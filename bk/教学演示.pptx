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80" r:id="rId12"/>
    <p:sldId id="279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6967E-542D-46BB-99C2-28920E914199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37628-B820-42EF-A241-CE9D2C9CD08B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notesSlide" Target="../notesSlides/notesSlide1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br/>
            <a:r>
              <a:t>AI 学习资料生成工作台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C8DC"/>
                </a:solidFill>
                <a:latin typeface="微软雅黑" panose="020B0503020204020204" charset="-122"/>
              </a:defRPr>
            </a:pPr>
            <a:r>
              <a:t>项目框架 · 技术架构 · 实现流程  教学演示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AABE"/>
                </a:solidFill>
                <a:latin typeface="微软雅黑" panose="020B0503020204020204" charset="-122"/>
              </a:defRPr>
            </a:pPr>
            <a:r>
              <a:t>技术文档与教学演示  |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演示大纲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项目背景与痛点分析 —— 为什么要做这个项目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系统定位与核心价值 —— 解决什么问题、为谁服务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整体架构与技术栈 —— 分层设计与关键技术选型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核心处理流程 —— 从原始素材到多模态输出的全链路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双前端策略与界面 —— Streamlit 快速原型 + Flask 生产级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关键设计决策 —— 5 个影响深远的架构选择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教学成果与输出样例 —— 5 种格式的学习资料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演进路线与展望 —— 从工具到平台的演进规划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本演示面向技术培训场景，帮助学员理解项目全貌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 项目背景与痛点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7E6"/>
                </a:solidFill>
                <a:latin typeface="微软雅黑" panose="020B0503020204020204" charset="-122"/>
              </a:defRPr>
            </a:pPr>
            <a:r>
              <a:t>为什么要做这个项目？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161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四大痛点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素材分散：教材、讲义、真题分布在 PDF / Word / Excel 多种格式中，人工整理耗时巨大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格式混乱：大量培训资料带有水印、页眉页脚广告，严重干扰阅读和知识提取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缺乏结构化：知识点之间关联性弱，考生难以形成体系化记忆和知识网络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输出单一：传统方式只能产出静态文档，无法自动生成思维导图、统计图表等多模态资料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数据来源：软考培训市场调研与考生反馈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项目定位与目标用户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41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核心定位：的AI 辅助资料自动生成工作台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目标用户① 备考考生 —— 快速将教材转化为结构化资料、思维导图、速记卡片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目标用户② 培训讲师 —— 批量生成标准化讲义，针对不同班级调整深度和案例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目标用户③ 知识整理者 —— 将零散技术文档沉淀为可复用的知识体系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核心价值：OCR → 清洗 → AI 深度加工 → 多格式导出，一站式资料生产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系统架构与技术栈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7E6"/>
                </a:solidFill>
                <a:latin typeface="微软雅黑" panose="020B0503020204020204" charset="-122"/>
              </a:defRPr>
            </a:pPr>
            <a:r>
              <a:t>如何构建这个系统？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四层架构设计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前端层（二选一）：Streamlit 快速原型版 + Flask/HTML 生产级版，共用同一套业务逻辑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API / 业务逻辑层：ai_generator（LLM 封装）、prompt_manager（提示词）、local_processor（本地清洗）、config_manager（配置中心）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数据处理层：ocr_engine（PDF OCR）、readword/readexcel（文档提取）、excel_charter（智能图表）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输出渲染层：docx_converter（Markdown→Word）、mindmap_renderer（Mermaid→PNG）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关键设计：模块间单向依赖，底层不感知上层存在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核心处理流程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7E6"/>
                </a:solidFill>
                <a:latin typeface="微软雅黑" panose="020B0503020204020204" charset="-122"/>
              </a:defRPr>
            </a:pPr>
            <a:r>
              <a:t>素材如何变成学习资料？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关键技术选型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技术/框架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核心用途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AI 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OpenAI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兼容 DeepSeek / Moonshot / OpenAI 等 OpenAI-Compatible API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PDF OCR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rapidocr + PyMuPDF + OpenCV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扫描版/图片版 PDF 文字识别，DPI 可调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Word 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python-docx + win32com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Markdown→精美排版 Word，支持表格与图片嵌入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图表生成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matplotlib + pandas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自动从表格数据生成柱状/饼图/雷达/散点图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思维导图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mermaid-cli / Playwright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Mermaid 代码→PNG/SVG 可视化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XMind 导出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zipfile + xml.etree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零第三方依赖生成标准 .xmind 文件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模板引擎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Jinja2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提示词模板动态渲染，支持用户自定义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配置管理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python-dotenv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.env 文件加载 API Key 与环境变量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spc="0" dirty="0">
                <a:solidFill>
                  <a:schemeClr val="tx1"/>
                </a:solidFill>
                <a:latin typeface="+mj-lt"/>
                <a:ea typeface="宋体" panose="02010600030101010101" charset="-122"/>
              </a:rPr>
              <a:t>一键全链路工作流</a:t>
            </a:r>
            <a:endParaRPr lang="zh-CN" spc="0" dirty="0">
              <a:solidFill>
                <a:schemeClr val="tx1"/>
              </a:solidFill>
              <a:latin typeface="+mj-lt"/>
              <a:ea typeface="宋体" panose="02010600030101010101" charset="-122"/>
            </a:endParaRPr>
          </a:p>
        </p:txBody>
      </p:sp>
      <p:sp>
        <p:nvSpPr>
          <p:cNvPr id="12" name="任意多边形: 形状 20"/>
          <p:cNvSpPr/>
          <p:nvPr>
            <p:custDataLst>
              <p:tags r:id="rId2"/>
            </p:custDataLst>
          </p:nvPr>
        </p:nvSpPr>
        <p:spPr>
          <a:xfrm>
            <a:off x="2206190" y="3348493"/>
            <a:ext cx="1696039" cy="1468813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2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3" name="任意多边形: 形状 30"/>
          <p:cNvSpPr/>
          <p:nvPr>
            <p:custDataLst>
              <p:tags r:id="rId3"/>
            </p:custDataLst>
          </p:nvPr>
        </p:nvSpPr>
        <p:spPr>
          <a:xfrm>
            <a:off x="529286" y="2337874"/>
            <a:ext cx="1948732" cy="1750574"/>
          </a:xfrm>
          <a:custGeom>
            <a:avLst/>
            <a:gdLst>
              <a:gd name="connsiteX0" fmla="*/ 646744 w 2493990"/>
              <a:gd name="connsiteY0" fmla="*/ 0 h 2240387"/>
              <a:gd name="connsiteX1" fmla="*/ 1940233 w 2493990"/>
              <a:gd name="connsiteY1" fmla="*/ 0 h 2240387"/>
              <a:gd name="connsiteX2" fmla="*/ 2493990 w 2493990"/>
              <a:gd name="connsiteY2" fmla="*/ 959135 h 2240387"/>
              <a:gd name="connsiteX3" fmla="*/ 2493990 w 2493990"/>
              <a:gd name="connsiteY3" fmla="*/ 1287748 h 2240387"/>
              <a:gd name="connsiteX4" fmla="*/ 2483516 w 2493990"/>
              <a:gd name="connsiteY4" fmla="*/ 1305700 h 2240387"/>
              <a:gd name="connsiteX5" fmla="*/ 1940233 w 2493990"/>
              <a:gd name="connsiteY5" fmla="*/ 2240387 h 2240387"/>
              <a:gd name="connsiteX6" fmla="*/ 646744 w 2493990"/>
              <a:gd name="connsiteY6" fmla="*/ 2240387 h 2240387"/>
              <a:gd name="connsiteX7" fmla="*/ 0 w 2493990"/>
              <a:gd name="connsiteY7" fmla="*/ 1120194 h 2240387"/>
              <a:gd name="connsiteX0-1" fmla="*/ 646744 w 2493990"/>
              <a:gd name="connsiteY0-2" fmla="*/ 0 h 2240387"/>
              <a:gd name="connsiteX1-3" fmla="*/ 1940233 w 2493990"/>
              <a:gd name="connsiteY1-4" fmla="*/ 0 h 2240387"/>
              <a:gd name="connsiteX2-5" fmla="*/ 2493990 w 2493990"/>
              <a:gd name="connsiteY2-6" fmla="*/ 959135 h 2240387"/>
              <a:gd name="connsiteX3-7" fmla="*/ 2493384 w 2493990"/>
              <a:gd name="connsiteY3-8" fmla="*/ 1135566 h 2240387"/>
              <a:gd name="connsiteX4-9" fmla="*/ 2493990 w 2493990"/>
              <a:gd name="connsiteY4-10" fmla="*/ 1287748 h 2240387"/>
              <a:gd name="connsiteX5-11" fmla="*/ 2483516 w 2493990"/>
              <a:gd name="connsiteY5-12" fmla="*/ 1305700 h 2240387"/>
              <a:gd name="connsiteX6-13" fmla="*/ 1940233 w 2493990"/>
              <a:gd name="connsiteY6-14" fmla="*/ 2240387 h 2240387"/>
              <a:gd name="connsiteX7-15" fmla="*/ 646744 w 2493990"/>
              <a:gd name="connsiteY7-16" fmla="*/ 2240387 h 2240387"/>
              <a:gd name="connsiteX8" fmla="*/ 0 w 2493990"/>
              <a:gd name="connsiteY8" fmla="*/ 1120194 h 2240387"/>
              <a:gd name="connsiteX9" fmla="*/ 646744 w 2493990"/>
              <a:gd name="connsiteY9" fmla="*/ 0 h 2240387"/>
              <a:gd name="connsiteX0-17" fmla="*/ 646744 w 2493990"/>
              <a:gd name="connsiteY0-18" fmla="*/ 0 h 2240387"/>
              <a:gd name="connsiteX1-19" fmla="*/ 1940233 w 2493990"/>
              <a:gd name="connsiteY1-20" fmla="*/ 0 h 2240387"/>
              <a:gd name="connsiteX2-21" fmla="*/ 2493990 w 2493990"/>
              <a:gd name="connsiteY2-22" fmla="*/ 959135 h 2240387"/>
              <a:gd name="connsiteX3-23" fmla="*/ 2493384 w 2493990"/>
              <a:gd name="connsiteY3-24" fmla="*/ 1135566 h 2240387"/>
              <a:gd name="connsiteX4-25" fmla="*/ 2493990 w 2493990"/>
              <a:gd name="connsiteY4-26" fmla="*/ 1287748 h 2240387"/>
              <a:gd name="connsiteX5-27" fmla="*/ 2483516 w 2493990"/>
              <a:gd name="connsiteY5-28" fmla="*/ 1305700 h 2240387"/>
              <a:gd name="connsiteX6-29" fmla="*/ 1940233 w 2493990"/>
              <a:gd name="connsiteY6-30" fmla="*/ 2240387 h 2240387"/>
              <a:gd name="connsiteX7-31" fmla="*/ 646744 w 2493990"/>
              <a:gd name="connsiteY7-32" fmla="*/ 2240387 h 2240387"/>
              <a:gd name="connsiteX8-33" fmla="*/ 0 w 2493990"/>
              <a:gd name="connsiteY8-34" fmla="*/ 1120194 h 2240387"/>
              <a:gd name="connsiteX9-35" fmla="*/ 646744 w 2493990"/>
              <a:gd name="connsiteY9-36" fmla="*/ 0 h 2240387"/>
              <a:gd name="connsiteX0-37" fmla="*/ 2493384 w 2584824"/>
              <a:gd name="connsiteY0-38" fmla="*/ 1135566 h 2240387"/>
              <a:gd name="connsiteX1-39" fmla="*/ 2493990 w 2584824"/>
              <a:gd name="connsiteY1-40" fmla="*/ 1287748 h 2240387"/>
              <a:gd name="connsiteX2-41" fmla="*/ 2483516 w 2584824"/>
              <a:gd name="connsiteY2-42" fmla="*/ 1305700 h 2240387"/>
              <a:gd name="connsiteX3-43" fmla="*/ 1940233 w 2584824"/>
              <a:gd name="connsiteY3-44" fmla="*/ 2240387 h 2240387"/>
              <a:gd name="connsiteX4-45" fmla="*/ 646744 w 2584824"/>
              <a:gd name="connsiteY4-46" fmla="*/ 2240387 h 2240387"/>
              <a:gd name="connsiteX5-47" fmla="*/ 0 w 2584824"/>
              <a:gd name="connsiteY5-48" fmla="*/ 1120194 h 2240387"/>
              <a:gd name="connsiteX6-49" fmla="*/ 646744 w 2584824"/>
              <a:gd name="connsiteY6-50" fmla="*/ 0 h 2240387"/>
              <a:gd name="connsiteX7-51" fmla="*/ 1940233 w 2584824"/>
              <a:gd name="connsiteY7-52" fmla="*/ 0 h 2240387"/>
              <a:gd name="connsiteX8-53" fmla="*/ 2493990 w 2584824"/>
              <a:gd name="connsiteY8-54" fmla="*/ 959135 h 2240387"/>
              <a:gd name="connsiteX9-55" fmla="*/ 2584824 w 2584824"/>
              <a:gd name="connsiteY9-56" fmla="*/ 1227006 h 2240387"/>
              <a:gd name="connsiteX0-57" fmla="*/ 2493384 w 2493990"/>
              <a:gd name="connsiteY0-58" fmla="*/ 1135566 h 2240387"/>
              <a:gd name="connsiteX1-59" fmla="*/ 2493990 w 2493990"/>
              <a:gd name="connsiteY1-60" fmla="*/ 1287748 h 2240387"/>
              <a:gd name="connsiteX2-61" fmla="*/ 2483516 w 2493990"/>
              <a:gd name="connsiteY2-62" fmla="*/ 1305700 h 2240387"/>
              <a:gd name="connsiteX3-63" fmla="*/ 1940233 w 2493990"/>
              <a:gd name="connsiteY3-64" fmla="*/ 2240387 h 2240387"/>
              <a:gd name="connsiteX4-65" fmla="*/ 646744 w 2493990"/>
              <a:gd name="connsiteY4-66" fmla="*/ 2240387 h 2240387"/>
              <a:gd name="connsiteX5-67" fmla="*/ 0 w 2493990"/>
              <a:gd name="connsiteY5-68" fmla="*/ 1120194 h 2240387"/>
              <a:gd name="connsiteX6-69" fmla="*/ 646744 w 2493990"/>
              <a:gd name="connsiteY6-70" fmla="*/ 0 h 2240387"/>
              <a:gd name="connsiteX7-71" fmla="*/ 1940233 w 2493990"/>
              <a:gd name="connsiteY7-72" fmla="*/ 0 h 2240387"/>
              <a:gd name="connsiteX8-73" fmla="*/ 2493990 w 2493990"/>
              <a:gd name="connsiteY8-74" fmla="*/ 959135 h 2240387"/>
              <a:gd name="connsiteX0-75" fmla="*/ 2493990 w 2493990"/>
              <a:gd name="connsiteY0-76" fmla="*/ 1287748 h 2240387"/>
              <a:gd name="connsiteX1-77" fmla="*/ 2483516 w 2493990"/>
              <a:gd name="connsiteY1-78" fmla="*/ 1305700 h 2240387"/>
              <a:gd name="connsiteX2-79" fmla="*/ 1940233 w 2493990"/>
              <a:gd name="connsiteY2-80" fmla="*/ 2240387 h 2240387"/>
              <a:gd name="connsiteX3-81" fmla="*/ 646744 w 2493990"/>
              <a:gd name="connsiteY3-82" fmla="*/ 2240387 h 2240387"/>
              <a:gd name="connsiteX4-83" fmla="*/ 0 w 2493990"/>
              <a:gd name="connsiteY4-84" fmla="*/ 1120194 h 2240387"/>
              <a:gd name="connsiteX5-85" fmla="*/ 646744 w 2493990"/>
              <a:gd name="connsiteY5-86" fmla="*/ 0 h 2240387"/>
              <a:gd name="connsiteX6-87" fmla="*/ 1940233 w 2493990"/>
              <a:gd name="connsiteY6-88" fmla="*/ 0 h 2240387"/>
              <a:gd name="connsiteX7-89" fmla="*/ 2493990 w 2493990"/>
              <a:gd name="connsiteY7-90" fmla="*/ 959135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93990" h="2240387">
                <a:moveTo>
                  <a:pt x="2493990" y="1287748"/>
                </a:moveTo>
                <a:lnTo>
                  <a:pt x="2483516" y="1305700"/>
                </a:lnTo>
                <a:lnTo>
                  <a:pt x="1940233" y="2240387"/>
                </a:lnTo>
                <a:lnTo>
                  <a:pt x="646744" y="2240387"/>
                </a:lnTo>
                <a:lnTo>
                  <a:pt x="0" y="1120194"/>
                </a:lnTo>
                <a:lnTo>
                  <a:pt x="646744" y="0"/>
                </a:lnTo>
                <a:lnTo>
                  <a:pt x="1940233" y="0"/>
                </a:lnTo>
                <a:lnTo>
                  <a:pt x="2493990" y="959135"/>
                </a:lnTo>
              </a:path>
            </a:pathLst>
          </a:custGeom>
          <a:noFill/>
          <a:ln w="25400">
            <a:solidFill>
              <a:schemeClr val="accent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38"/>
          <p:cNvSpPr/>
          <p:nvPr>
            <p:custDataLst>
              <p:tags r:id="rId4"/>
            </p:custDataLst>
          </p:nvPr>
        </p:nvSpPr>
        <p:spPr>
          <a:xfrm>
            <a:off x="6593476" y="2337874"/>
            <a:ext cx="2021389" cy="1750574"/>
          </a:xfrm>
          <a:custGeom>
            <a:avLst/>
            <a:gdLst>
              <a:gd name="connsiteX0" fmla="*/ 646744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736693 w 2586977"/>
              <a:gd name="connsiteY4" fmla="*/ 2240387 h 2240387"/>
              <a:gd name="connsiteX5" fmla="*/ 736693 w 2586977"/>
              <a:gd name="connsiteY5" fmla="*/ 1726018 h 2240387"/>
              <a:gd name="connsiteX6" fmla="*/ 561841 w 2586977"/>
              <a:gd name="connsiteY6" fmla="*/ 1726018 h 2240387"/>
              <a:gd name="connsiteX7" fmla="*/ 561841 w 2586977"/>
              <a:gd name="connsiteY7" fmla="*/ 2093331 h 2240387"/>
              <a:gd name="connsiteX8" fmla="*/ 0 w 2586977"/>
              <a:gd name="connsiteY8" fmla="*/ 1120194 h 2240387"/>
              <a:gd name="connsiteX0-1" fmla="*/ 736693 w 2586977"/>
              <a:gd name="connsiteY0-2" fmla="*/ 1726018 h 2240387"/>
              <a:gd name="connsiteX1-3" fmla="*/ 561841 w 2586977"/>
              <a:gd name="connsiteY1-4" fmla="*/ 1726018 h 2240387"/>
              <a:gd name="connsiteX2-5" fmla="*/ 561841 w 2586977"/>
              <a:gd name="connsiteY2-6" fmla="*/ 2093331 h 2240387"/>
              <a:gd name="connsiteX3-7" fmla="*/ 0 w 2586977"/>
              <a:gd name="connsiteY3-8" fmla="*/ 1120194 h 2240387"/>
              <a:gd name="connsiteX4-9" fmla="*/ 646744 w 2586977"/>
              <a:gd name="connsiteY4-10" fmla="*/ 0 h 2240387"/>
              <a:gd name="connsiteX5-11" fmla="*/ 1940233 w 2586977"/>
              <a:gd name="connsiteY5-12" fmla="*/ 0 h 2240387"/>
              <a:gd name="connsiteX6-13" fmla="*/ 2586977 w 2586977"/>
              <a:gd name="connsiteY6-14" fmla="*/ 1120194 h 2240387"/>
              <a:gd name="connsiteX7-15" fmla="*/ 1940233 w 2586977"/>
              <a:gd name="connsiteY7-16" fmla="*/ 2240387 h 2240387"/>
              <a:gd name="connsiteX8-17" fmla="*/ 736693 w 2586977"/>
              <a:gd name="connsiteY8-18" fmla="*/ 2240387 h 2240387"/>
              <a:gd name="connsiteX9" fmla="*/ 828133 w 2586977"/>
              <a:gd name="connsiteY9" fmla="*/ 1817458 h 2240387"/>
              <a:gd name="connsiteX0-19" fmla="*/ 736693 w 2586977"/>
              <a:gd name="connsiteY0-20" fmla="*/ 1726018 h 2240387"/>
              <a:gd name="connsiteX1-21" fmla="*/ 561841 w 2586977"/>
              <a:gd name="connsiteY1-22" fmla="*/ 1726018 h 2240387"/>
              <a:gd name="connsiteX2-23" fmla="*/ 561841 w 2586977"/>
              <a:gd name="connsiteY2-24" fmla="*/ 2093331 h 2240387"/>
              <a:gd name="connsiteX3-25" fmla="*/ 0 w 2586977"/>
              <a:gd name="connsiteY3-26" fmla="*/ 1120194 h 2240387"/>
              <a:gd name="connsiteX4-27" fmla="*/ 646744 w 2586977"/>
              <a:gd name="connsiteY4-28" fmla="*/ 0 h 2240387"/>
              <a:gd name="connsiteX5-29" fmla="*/ 1940233 w 2586977"/>
              <a:gd name="connsiteY5-30" fmla="*/ 0 h 2240387"/>
              <a:gd name="connsiteX6-31" fmla="*/ 2586977 w 2586977"/>
              <a:gd name="connsiteY6-32" fmla="*/ 1120194 h 2240387"/>
              <a:gd name="connsiteX7-33" fmla="*/ 1940233 w 2586977"/>
              <a:gd name="connsiteY7-34" fmla="*/ 2240387 h 2240387"/>
              <a:gd name="connsiteX8-35" fmla="*/ 736693 w 2586977"/>
              <a:gd name="connsiteY8-36" fmla="*/ 2240387 h 2240387"/>
              <a:gd name="connsiteX0-37" fmla="*/ 561841 w 2586977"/>
              <a:gd name="connsiteY0-38" fmla="*/ 1726018 h 2240387"/>
              <a:gd name="connsiteX1-39" fmla="*/ 561841 w 2586977"/>
              <a:gd name="connsiteY1-40" fmla="*/ 2093331 h 2240387"/>
              <a:gd name="connsiteX2-41" fmla="*/ 0 w 2586977"/>
              <a:gd name="connsiteY2-42" fmla="*/ 1120194 h 2240387"/>
              <a:gd name="connsiteX3-43" fmla="*/ 646744 w 2586977"/>
              <a:gd name="connsiteY3-44" fmla="*/ 0 h 2240387"/>
              <a:gd name="connsiteX4-45" fmla="*/ 1940233 w 2586977"/>
              <a:gd name="connsiteY4-46" fmla="*/ 0 h 2240387"/>
              <a:gd name="connsiteX5-47" fmla="*/ 2586977 w 2586977"/>
              <a:gd name="connsiteY5-48" fmla="*/ 1120194 h 2240387"/>
              <a:gd name="connsiteX6-49" fmla="*/ 1940233 w 2586977"/>
              <a:gd name="connsiteY6-50" fmla="*/ 2240387 h 2240387"/>
              <a:gd name="connsiteX7-51" fmla="*/ 736693 w 2586977"/>
              <a:gd name="connsiteY7-52" fmla="*/ 2240387 h 2240387"/>
              <a:gd name="connsiteX0-53" fmla="*/ 561841 w 2586977"/>
              <a:gd name="connsiteY0-54" fmla="*/ 2093331 h 2240387"/>
              <a:gd name="connsiteX1-55" fmla="*/ 0 w 2586977"/>
              <a:gd name="connsiteY1-56" fmla="*/ 1120194 h 2240387"/>
              <a:gd name="connsiteX2-57" fmla="*/ 646744 w 2586977"/>
              <a:gd name="connsiteY2-58" fmla="*/ 0 h 2240387"/>
              <a:gd name="connsiteX3-59" fmla="*/ 1940233 w 2586977"/>
              <a:gd name="connsiteY3-60" fmla="*/ 0 h 2240387"/>
              <a:gd name="connsiteX4-61" fmla="*/ 2586977 w 2586977"/>
              <a:gd name="connsiteY4-62" fmla="*/ 1120194 h 2240387"/>
              <a:gd name="connsiteX5-63" fmla="*/ 1940233 w 2586977"/>
              <a:gd name="connsiteY5-64" fmla="*/ 2240387 h 2240387"/>
              <a:gd name="connsiteX6-65" fmla="*/ 736693 w 2586977"/>
              <a:gd name="connsiteY6-66" fmla="*/ 2240387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586977" h="2240387">
                <a:moveTo>
                  <a:pt x="561841" y="2093331"/>
                </a:moveTo>
                <a:lnTo>
                  <a:pt x="0" y="1120194"/>
                </a:lnTo>
                <a:lnTo>
                  <a:pt x="646744" y="0"/>
                </a:lnTo>
                <a:lnTo>
                  <a:pt x="1940233" y="0"/>
                </a:lnTo>
                <a:lnTo>
                  <a:pt x="2586977" y="1120194"/>
                </a:lnTo>
                <a:lnTo>
                  <a:pt x="1940233" y="2240387"/>
                </a:lnTo>
                <a:lnTo>
                  <a:pt x="736693" y="2240387"/>
                </a:lnTo>
              </a:path>
            </a:pathLst>
          </a:cu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36"/>
          <p:cNvSpPr/>
          <p:nvPr>
            <p:custDataLst>
              <p:tags r:id="rId5"/>
            </p:custDataLst>
          </p:nvPr>
        </p:nvSpPr>
        <p:spPr>
          <a:xfrm>
            <a:off x="3561619" y="2337874"/>
            <a:ext cx="1952555" cy="1750574"/>
          </a:xfrm>
          <a:custGeom>
            <a:avLst/>
            <a:gdLst>
              <a:gd name="connsiteX0" fmla="*/ 646745 w 2498882"/>
              <a:gd name="connsiteY0" fmla="*/ 0 h 2240387"/>
              <a:gd name="connsiteX1" fmla="*/ 1940233 w 2498882"/>
              <a:gd name="connsiteY1" fmla="*/ 0 h 2240387"/>
              <a:gd name="connsiteX2" fmla="*/ 2498882 w 2498882"/>
              <a:gd name="connsiteY2" fmla="*/ 967609 h 2240387"/>
              <a:gd name="connsiteX3" fmla="*/ 2498882 w 2498882"/>
              <a:gd name="connsiteY3" fmla="*/ 1272779 h 2240387"/>
              <a:gd name="connsiteX4" fmla="*/ 1940233 w 2498882"/>
              <a:gd name="connsiteY4" fmla="*/ 2240387 h 2240387"/>
              <a:gd name="connsiteX5" fmla="*/ 646745 w 2498882"/>
              <a:gd name="connsiteY5" fmla="*/ 2240387 h 2240387"/>
              <a:gd name="connsiteX6" fmla="*/ 0 w 2498882"/>
              <a:gd name="connsiteY6" fmla="*/ 1120194 h 2240387"/>
              <a:gd name="connsiteX0-1" fmla="*/ 646745 w 2498882"/>
              <a:gd name="connsiteY0-2" fmla="*/ 0 h 2240387"/>
              <a:gd name="connsiteX1-3" fmla="*/ 1940233 w 2498882"/>
              <a:gd name="connsiteY1-4" fmla="*/ 0 h 2240387"/>
              <a:gd name="connsiteX2-5" fmla="*/ 2498882 w 2498882"/>
              <a:gd name="connsiteY2-6" fmla="*/ 967609 h 2240387"/>
              <a:gd name="connsiteX3-7" fmla="*/ 2493887 w 2498882"/>
              <a:gd name="connsiteY3-8" fmla="*/ 1110572 h 2240387"/>
              <a:gd name="connsiteX4-9" fmla="*/ 2498882 w 2498882"/>
              <a:gd name="connsiteY4-10" fmla="*/ 1272779 h 2240387"/>
              <a:gd name="connsiteX5-11" fmla="*/ 1940233 w 2498882"/>
              <a:gd name="connsiteY5-12" fmla="*/ 2240387 h 2240387"/>
              <a:gd name="connsiteX6-13" fmla="*/ 646745 w 2498882"/>
              <a:gd name="connsiteY6-14" fmla="*/ 2240387 h 2240387"/>
              <a:gd name="connsiteX7" fmla="*/ 0 w 2498882"/>
              <a:gd name="connsiteY7" fmla="*/ 1120194 h 2240387"/>
              <a:gd name="connsiteX8" fmla="*/ 646745 w 2498882"/>
              <a:gd name="connsiteY8" fmla="*/ 0 h 2240387"/>
              <a:gd name="connsiteX0-15" fmla="*/ 2493887 w 2585327"/>
              <a:gd name="connsiteY0-16" fmla="*/ 1110572 h 2240387"/>
              <a:gd name="connsiteX1-17" fmla="*/ 2498882 w 2585327"/>
              <a:gd name="connsiteY1-18" fmla="*/ 1272779 h 2240387"/>
              <a:gd name="connsiteX2-19" fmla="*/ 1940233 w 2585327"/>
              <a:gd name="connsiteY2-20" fmla="*/ 2240387 h 2240387"/>
              <a:gd name="connsiteX3-21" fmla="*/ 646745 w 2585327"/>
              <a:gd name="connsiteY3-22" fmla="*/ 2240387 h 2240387"/>
              <a:gd name="connsiteX4-23" fmla="*/ 0 w 2585327"/>
              <a:gd name="connsiteY4-24" fmla="*/ 1120194 h 2240387"/>
              <a:gd name="connsiteX5-25" fmla="*/ 646745 w 2585327"/>
              <a:gd name="connsiteY5-26" fmla="*/ 0 h 2240387"/>
              <a:gd name="connsiteX6-27" fmla="*/ 1940233 w 2585327"/>
              <a:gd name="connsiteY6-28" fmla="*/ 0 h 2240387"/>
              <a:gd name="connsiteX7-29" fmla="*/ 2498882 w 2585327"/>
              <a:gd name="connsiteY7-30" fmla="*/ 967609 h 2240387"/>
              <a:gd name="connsiteX8-31" fmla="*/ 2585327 w 2585327"/>
              <a:gd name="connsiteY8-32" fmla="*/ 1202012 h 2240387"/>
              <a:gd name="connsiteX0-33" fmla="*/ 2493887 w 2498882"/>
              <a:gd name="connsiteY0-34" fmla="*/ 1110572 h 2240387"/>
              <a:gd name="connsiteX1-35" fmla="*/ 2498882 w 2498882"/>
              <a:gd name="connsiteY1-36" fmla="*/ 1272779 h 2240387"/>
              <a:gd name="connsiteX2-37" fmla="*/ 1940233 w 2498882"/>
              <a:gd name="connsiteY2-38" fmla="*/ 2240387 h 2240387"/>
              <a:gd name="connsiteX3-39" fmla="*/ 646745 w 2498882"/>
              <a:gd name="connsiteY3-40" fmla="*/ 2240387 h 2240387"/>
              <a:gd name="connsiteX4-41" fmla="*/ 0 w 2498882"/>
              <a:gd name="connsiteY4-42" fmla="*/ 1120194 h 2240387"/>
              <a:gd name="connsiteX5-43" fmla="*/ 646745 w 2498882"/>
              <a:gd name="connsiteY5-44" fmla="*/ 0 h 2240387"/>
              <a:gd name="connsiteX6-45" fmla="*/ 1940233 w 2498882"/>
              <a:gd name="connsiteY6-46" fmla="*/ 0 h 2240387"/>
              <a:gd name="connsiteX7-47" fmla="*/ 2498882 w 2498882"/>
              <a:gd name="connsiteY7-48" fmla="*/ 967609 h 2240387"/>
              <a:gd name="connsiteX0-49" fmla="*/ 2498882 w 2498882"/>
              <a:gd name="connsiteY0-50" fmla="*/ 1272779 h 2240387"/>
              <a:gd name="connsiteX1-51" fmla="*/ 1940233 w 2498882"/>
              <a:gd name="connsiteY1-52" fmla="*/ 2240387 h 2240387"/>
              <a:gd name="connsiteX2-53" fmla="*/ 646745 w 2498882"/>
              <a:gd name="connsiteY2-54" fmla="*/ 2240387 h 2240387"/>
              <a:gd name="connsiteX3-55" fmla="*/ 0 w 2498882"/>
              <a:gd name="connsiteY3-56" fmla="*/ 1120194 h 2240387"/>
              <a:gd name="connsiteX4-57" fmla="*/ 646745 w 2498882"/>
              <a:gd name="connsiteY4-58" fmla="*/ 0 h 2240387"/>
              <a:gd name="connsiteX5-59" fmla="*/ 1940233 w 2498882"/>
              <a:gd name="connsiteY5-60" fmla="*/ 0 h 2240387"/>
              <a:gd name="connsiteX6-61" fmla="*/ 2498882 w 2498882"/>
              <a:gd name="connsiteY6-62" fmla="*/ 967609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98882" h="2240387">
                <a:moveTo>
                  <a:pt x="2498882" y="1272779"/>
                </a:moveTo>
                <a:lnTo>
                  <a:pt x="1940233" y="2240387"/>
                </a:lnTo>
                <a:lnTo>
                  <a:pt x="646745" y="2240387"/>
                </a:lnTo>
                <a:lnTo>
                  <a:pt x="0" y="1120194"/>
                </a:lnTo>
                <a:lnTo>
                  <a:pt x="646745" y="0"/>
                </a:lnTo>
                <a:lnTo>
                  <a:pt x="1940233" y="0"/>
                </a:lnTo>
                <a:lnTo>
                  <a:pt x="2498882" y="967609"/>
                </a:lnTo>
              </a:path>
            </a:pathLst>
          </a:custGeom>
          <a:noFill/>
          <a:ln w="25400">
            <a:solidFill>
              <a:schemeClr val="accent3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任意多边形: 形状 17"/>
          <p:cNvSpPr/>
          <p:nvPr>
            <p:custDataLst>
              <p:tags r:id="rId6"/>
            </p:custDataLst>
          </p:nvPr>
        </p:nvSpPr>
        <p:spPr>
          <a:xfrm>
            <a:off x="684546" y="2470274"/>
            <a:ext cx="1696039" cy="1468813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任意多边形: 形状 18"/>
          <p:cNvSpPr/>
          <p:nvPr>
            <p:custDataLst>
              <p:tags r:id="rId7"/>
            </p:custDataLst>
          </p:nvPr>
        </p:nvSpPr>
        <p:spPr>
          <a:xfrm>
            <a:off x="6769691" y="2470274"/>
            <a:ext cx="1696039" cy="1468813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5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3" name="任意多边形: 形状 19"/>
          <p:cNvSpPr/>
          <p:nvPr>
            <p:custDataLst>
              <p:tags r:id="rId8"/>
            </p:custDataLst>
          </p:nvPr>
        </p:nvSpPr>
        <p:spPr>
          <a:xfrm>
            <a:off x="5248524" y="3348493"/>
            <a:ext cx="1696039" cy="1468813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4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4" name="任意多边形: 形状 21"/>
          <p:cNvSpPr/>
          <p:nvPr>
            <p:custDataLst>
              <p:tags r:id="rId9"/>
            </p:custDataLst>
          </p:nvPr>
        </p:nvSpPr>
        <p:spPr>
          <a:xfrm>
            <a:off x="3727357" y="2470274"/>
            <a:ext cx="1696039" cy="1468813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3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5" name="任意多边形: 形状 53"/>
          <p:cNvSpPr/>
          <p:nvPr>
            <p:custDataLst>
              <p:tags r:id="rId10"/>
            </p:custDataLst>
          </p:nvPr>
        </p:nvSpPr>
        <p:spPr>
          <a:xfrm>
            <a:off x="2614819" y="3212760"/>
            <a:ext cx="1452075" cy="875287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728609 w 2586977"/>
              <a:gd name="connsiteY0-68" fmla="*/ 0 h 2240387"/>
              <a:gd name="connsiteX1-69" fmla="*/ 1940233 w 2586977"/>
              <a:gd name="connsiteY1-70" fmla="*/ 0 h 2240387"/>
              <a:gd name="connsiteX2-71" fmla="*/ 2586977 w 2586977"/>
              <a:gd name="connsiteY2-72" fmla="*/ 1120194 h 2240387"/>
              <a:gd name="connsiteX3-73" fmla="*/ 1940233 w 2586977"/>
              <a:gd name="connsiteY3-74" fmla="*/ 2240387 h 2240387"/>
              <a:gd name="connsiteX4-75" fmla="*/ 646744 w 2586977"/>
              <a:gd name="connsiteY4-76" fmla="*/ 2240387 h 2240387"/>
              <a:gd name="connsiteX5-77" fmla="*/ 0 w 2586977"/>
              <a:gd name="connsiteY5-78" fmla="*/ 1120194 h 2240387"/>
              <a:gd name="connsiteX0-79" fmla="*/ 81865 w 1940233"/>
              <a:gd name="connsiteY0-80" fmla="*/ 0 h 2240387"/>
              <a:gd name="connsiteX1-81" fmla="*/ 1293489 w 1940233"/>
              <a:gd name="connsiteY1-82" fmla="*/ 0 h 2240387"/>
              <a:gd name="connsiteX2-83" fmla="*/ 1940233 w 1940233"/>
              <a:gd name="connsiteY2-84" fmla="*/ 1120194 h 2240387"/>
              <a:gd name="connsiteX3-85" fmla="*/ 1293489 w 1940233"/>
              <a:gd name="connsiteY3-86" fmla="*/ 2240387 h 2240387"/>
              <a:gd name="connsiteX4-87" fmla="*/ 0 w 1940233"/>
              <a:gd name="connsiteY4-88" fmla="*/ 2240387 h 2240387"/>
              <a:gd name="connsiteX0-89" fmla="*/ 0 w 1858368"/>
              <a:gd name="connsiteY0-90" fmla="*/ 0 h 2240387"/>
              <a:gd name="connsiteX1-91" fmla="*/ 1211624 w 1858368"/>
              <a:gd name="connsiteY1-92" fmla="*/ 0 h 2240387"/>
              <a:gd name="connsiteX2-93" fmla="*/ 1858368 w 1858368"/>
              <a:gd name="connsiteY2-94" fmla="*/ 1120194 h 2240387"/>
              <a:gd name="connsiteX3-95" fmla="*/ 1211624 w 1858368"/>
              <a:gd name="connsiteY3-96" fmla="*/ 2240387 h 2240387"/>
              <a:gd name="connsiteX0-97" fmla="*/ 0 w 1858368"/>
              <a:gd name="connsiteY0-98" fmla="*/ 0 h 1120194"/>
              <a:gd name="connsiteX1-99" fmla="*/ 1211624 w 1858368"/>
              <a:gd name="connsiteY1-100" fmla="*/ 0 h 1120194"/>
              <a:gd name="connsiteX2-101" fmla="*/ 1858368 w 1858368"/>
              <a:gd name="connsiteY2-102" fmla="*/ 1120194 h 11201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58368" h="1120194">
                <a:moveTo>
                  <a:pt x="0" y="0"/>
                </a:moveTo>
                <a:lnTo>
                  <a:pt x="1211624" y="0"/>
                </a:lnTo>
                <a:lnTo>
                  <a:pt x="1858368" y="1120194"/>
                </a:ln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54"/>
          <p:cNvSpPr/>
          <p:nvPr>
            <p:custDataLst>
              <p:tags r:id="rId11"/>
            </p:custDataLst>
          </p:nvPr>
        </p:nvSpPr>
        <p:spPr>
          <a:xfrm>
            <a:off x="2045691" y="3338968"/>
            <a:ext cx="1939734" cy="1624727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1940233 w 2586977"/>
              <a:gd name="connsiteY0-68" fmla="*/ 0 h 2240387"/>
              <a:gd name="connsiteX1-69" fmla="*/ 2586977 w 2586977"/>
              <a:gd name="connsiteY1-70" fmla="*/ 1120194 h 2240387"/>
              <a:gd name="connsiteX2-71" fmla="*/ 1940233 w 2586977"/>
              <a:gd name="connsiteY2-72" fmla="*/ 2240387 h 2240387"/>
              <a:gd name="connsiteX3-73" fmla="*/ 646744 w 2586977"/>
              <a:gd name="connsiteY3-74" fmla="*/ 2240387 h 2240387"/>
              <a:gd name="connsiteX4-75" fmla="*/ 0 w 2586977"/>
              <a:gd name="connsiteY4-76" fmla="*/ 1120194 h 2240387"/>
              <a:gd name="connsiteX5-77" fmla="*/ 553757 w 2586977"/>
              <a:gd name="connsiteY5-78" fmla="*/ 161059 h 2240387"/>
              <a:gd name="connsiteX0-79" fmla="*/ 2586977 w 2586977"/>
              <a:gd name="connsiteY0-80" fmla="*/ 959135 h 2079328"/>
              <a:gd name="connsiteX1-81" fmla="*/ 1940233 w 2586977"/>
              <a:gd name="connsiteY1-82" fmla="*/ 2079328 h 2079328"/>
              <a:gd name="connsiteX2-83" fmla="*/ 646744 w 2586977"/>
              <a:gd name="connsiteY2-84" fmla="*/ 2079328 h 2079328"/>
              <a:gd name="connsiteX3-85" fmla="*/ 0 w 2586977"/>
              <a:gd name="connsiteY3-86" fmla="*/ 959135 h 2079328"/>
              <a:gd name="connsiteX4-87" fmla="*/ 553757 w 2586977"/>
              <a:gd name="connsiteY4-88" fmla="*/ 0 h 2079328"/>
              <a:gd name="connsiteX0-89" fmla="*/ 2482474 w 2482474"/>
              <a:gd name="connsiteY0-90" fmla="*/ 1134551 h 2079328"/>
              <a:gd name="connsiteX1-91" fmla="*/ 1940233 w 2482474"/>
              <a:gd name="connsiteY1-92" fmla="*/ 2079328 h 2079328"/>
              <a:gd name="connsiteX2-93" fmla="*/ 646744 w 2482474"/>
              <a:gd name="connsiteY2-94" fmla="*/ 2079328 h 2079328"/>
              <a:gd name="connsiteX3-95" fmla="*/ 0 w 2482474"/>
              <a:gd name="connsiteY3-96" fmla="*/ 959135 h 2079328"/>
              <a:gd name="connsiteX4-97" fmla="*/ 553757 w 2482474"/>
              <a:gd name="connsiteY4-98" fmla="*/ 0 h 20793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82474" h="2079328">
                <a:moveTo>
                  <a:pt x="2482474" y="1134551"/>
                </a:moveTo>
                <a:lnTo>
                  <a:pt x="1940233" y="2079328"/>
                </a:lnTo>
                <a:lnTo>
                  <a:pt x="646744" y="2079328"/>
                </a:lnTo>
                <a:lnTo>
                  <a:pt x="0" y="959135"/>
                </a:lnTo>
                <a:lnTo>
                  <a:pt x="553757" y="0"/>
                </a:lnTo>
              </a:path>
            </a:pathLst>
          </a:custGeom>
          <a:noFill/>
          <a:ln w="25400">
            <a:solidFill>
              <a:schemeClr val="accent2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55"/>
          <p:cNvSpPr/>
          <p:nvPr>
            <p:custDataLst>
              <p:tags r:id="rId12"/>
            </p:custDataLst>
          </p:nvPr>
        </p:nvSpPr>
        <p:spPr>
          <a:xfrm>
            <a:off x="5077548" y="3338968"/>
            <a:ext cx="1939734" cy="1624727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1940233 w 2586977"/>
              <a:gd name="connsiteY0-68" fmla="*/ 0 h 2240387"/>
              <a:gd name="connsiteX1-69" fmla="*/ 2586977 w 2586977"/>
              <a:gd name="connsiteY1-70" fmla="*/ 1120194 h 2240387"/>
              <a:gd name="connsiteX2-71" fmla="*/ 1940233 w 2586977"/>
              <a:gd name="connsiteY2-72" fmla="*/ 2240387 h 2240387"/>
              <a:gd name="connsiteX3-73" fmla="*/ 646744 w 2586977"/>
              <a:gd name="connsiteY3-74" fmla="*/ 2240387 h 2240387"/>
              <a:gd name="connsiteX4-75" fmla="*/ 0 w 2586977"/>
              <a:gd name="connsiteY4-76" fmla="*/ 1120194 h 2240387"/>
              <a:gd name="connsiteX5-77" fmla="*/ 553757 w 2586977"/>
              <a:gd name="connsiteY5-78" fmla="*/ 161059 h 2240387"/>
              <a:gd name="connsiteX0-79" fmla="*/ 2586977 w 2586977"/>
              <a:gd name="connsiteY0-80" fmla="*/ 959135 h 2079328"/>
              <a:gd name="connsiteX1-81" fmla="*/ 1940233 w 2586977"/>
              <a:gd name="connsiteY1-82" fmla="*/ 2079328 h 2079328"/>
              <a:gd name="connsiteX2-83" fmla="*/ 646744 w 2586977"/>
              <a:gd name="connsiteY2-84" fmla="*/ 2079328 h 2079328"/>
              <a:gd name="connsiteX3-85" fmla="*/ 0 w 2586977"/>
              <a:gd name="connsiteY3-86" fmla="*/ 959135 h 2079328"/>
              <a:gd name="connsiteX4-87" fmla="*/ 553757 w 2586977"/>
              <a:gd name="connsiteY4-88" fmla="*/ 0 h 2079328"/>
              <a:gd name="connsiteX0-89" fmla="*/ 2482474 w 2482474"/>
              <a:gd name="connsiteY0-90" fmla="*/ 1134551 h 2079328"/>
              <a:gd name="connsiteX1-91" fmla="*/ 1940233 w 2482474"/>
              <a:gd name="connsiteY1-92" fmla="*/ 2079328 h 2079328"/>
              <a:gd name="connsiteX2-93" fmla="*/ 646744 w 2482474"/>
              <a:gd name="connsiteY2-94" fmla="*/ 2079328 h 2079328"/>
              <a:gd name="connsiteX3-95" fmla="*/ 0 w 2482474"/>
              <a:gd name="connsiteY3-96" fmla="*/ 959135 h 2079328"/>
              <a:gd name="connsiteX4-97" fmla="*/ 553757 w 2482474"/>
              <a:gd name="connsiteY4-98" fmla="*/ 0 h 20793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82474" h="2079328">
                <a:moveTo>
                  <a:pt x="2482474" y="1134551"/>
                </a:moveTo>
                <a:lnTo>
                  <a:pt x="1940233" y="2079328"/>
                </a:lnTo>
                <a:lnTo>
                  <a:pt x="646744" y="2079328"/>
                </a:lnTo>
                <a:lnTo>
                  <a:pt x="0" y="959135"/>
                </a:lnTo>
                <a:lnTo>
                  <a:pt x="553757" y="0"/>
                </a:lnTo>
              </a:path>
            </a:pathLst>
          </a:custGeom>
          <a:noFill/>
          <a:ln w="25400">
            <a:solidFill>
              <a:schemeClr val="accent4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56"/>
          <p:cNvSpPr/>
          <p:nvPr>
            <p:custDataLst>
              <p:tags r:id="rId13"/>
            </p:custDataLst>
          </p:nvPr>
        </p:nvSpPr>
        <p:spPr>
          <a:xfrm>
            <a:off x="5646676" y="3212760"/>
            <a:ext cx="1452075" cy="875287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728609 w 2586977"/>
              <a:gd name="connsiteY0-68" fmla="*/ 0 h 2240387"/>
              <a:gd name="connsiteX1-69" fmla="*/ 1940233 w 2586977"/>
              <a:gd name="connsiteY1-70" fmla="*/ 0 h 2240387"/>
              <a:gd name="connsiteX2-71" fmla="*/ 2586977 w 2586977"/>
              <a:gd name="connsiteY2-72" fmla="*/ 1120194 h 2240387"/>
              <a:gd name="connsiteX3-73" fmla="*/ 1940233 w 2586977"/>
              <a:gd name="connsiteY3-74" fmla="*/ 2240387 h 2240387"/>
              <a:gd name="connsiteX4-75" fmla="*/ 646744 w 2586977"/>
              <a:gd name="connsiteY4-76" fmla="*/ 2240387 h 2240387"/>
              <a:gd name="connsiteX5-77" fmla="*/ 0 w 2586977"/>
              <a:gd name="connsiteY5-78" fmla="*/ 1120194 h 2240387"/>
              <a:gd name="connsiteX0-79" fmla="*/ 81865 w 1940233"/>
              <a:gd name="connsiteY0-80" fmla="*/ 0 h 2240387"/>
              <a:gd name="connsiteX1-81" fmla="*/ 1293489 w 1940233"/>
              <a:gd name="connsiteY1-82" fmla="*/ 0 h 2240387"/>
              <a:gd name="connsiteX2-83" fmla="*/ 1940233 w 1940233"/>
              <a:gd name="connsiteY2-84" fmla="*/ 1120194 h 2240387"/>
              <a:gd name="connsiteX3-85" fmla="*/ 1293489 w 1940233"/>
              <a:gd name="connsiteY3-86" fmla="*/ 2240387 h 2240387"/>
              <a:gd name="connsiteX4-87" fmla="*/ 0 w 1940233"/>
              <a:gd name="connsiteY4-88" fmla="*/ 2240387 h 2240387"/>
              <a:gd name="connsiteX0-89" fmla="*/ 0 w 1858368"/>
              <a:gd name="connsiteY0-90" fmla="*/ 0 h 2240387"/>
              <a:gd name="connsiteX1-91" fmla="*/ 1211624 w 1858368"/>
              <a:gd name="connsiteY1-92" fmla="*/ 0 h 2240387"/>
              <a:gd name="connsiteX2-93" fmla="*/ 1858368 w 1858368"/>
              <a:gd name="connsiteY2-94" fmla="*/ 1120194 h 2240387"/>
              <a:gd name="connsiteX3-95" fmla="*/ 1211624 w 1858368"/>
              <a:gd name="connsiteY3-96" fmla="*/ 2240387 h 2240387"/>
              <a:gd name="connsiteX0-97" fmla="*/ 0 w 1858368"/>
              <a:gd name="connsiteY0-98" fmla="*/ 0 h 1120194"/>
              <a:gd name="connsiteX1-99" fmla="*/ 1211624 w 1858368"/>
              <a:gd name="connsiteY1-100" fmla="*/ 0 h 1120194"/>
              <a:gd name="connsiteX2-101" fmla="*/ 1858368 w 1858368"/>
              <a:gd name="connsiteY2-102" fmla="*/ 1120194 h 11201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58368" h="1120194">
                <a:moveTo>
                  <a:pt x="0" y="0"/>
                </a:moveTo>
                <a:lnTo>
                  <a:pt x="1211624" y="0"/>
                </a:lnTo>
                <a:lnTo>
                  <a:pt x="1858368" y="1120194"/>
                </a:ln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矩形 57"/>
          <p:cNvSpPr/>
          <p:nvPr>
            <p:custDataLst>
              <p:tags r:id="rId14"/>
            </p:custDataLst>
          </p:nvPr>
        </p:nvSpPr>
        <p:spPr>
          <a:xfrm>
            <a:off x="879336" y="4539614"/>
            <a:ext cx="1307079" cy="945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lnSpcReduction="10000"/>
          </a:bodyPr>
          <a:p>
            <a:pPr marL="0" indent="0" algn="ctr">
              <a:lnSpc>
                <a:spcPct val="130000"/>
              </a:lnSpc>
              <a:buNone/>
            </a:pPr>
            <a:r>
              <a:rPr 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输入层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: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将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PDF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课件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/ Word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讲义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/ Excel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数据表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放入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input/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目录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2" name="矩形 60"/>
          <p:cNvSpPr/>
          <p:nvPr>
            <p:custDataLst>
              <p:tags r:id="rId15"/>
            </p:custDataLst>
          </p:nvPr>
        </p:nvSpPr>
        <p:spPr>
          <a:xfrm>
            <a:off x="6964004" y="4539614"/>
            <a:ext cx="1307079" cy="945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fontScale="70000"/>
          </a:bodyPr>
          <a:p>
            <a:pPr marL="0" indent="0" algn="ctr">
              <a:lnSpc>
                <a:spcPct val="130000"/>
              </a:lnSpc>
              <a:buNone/>
            </a:pPr>
            <a:r>
              <a:rPr 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输出层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:docx_converter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生成精美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Word;mindmap_renderer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生成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PNG;xmind_exporter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生成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.xmind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3" name="矩形 61"/>
          <p:cNvSpPr/>
          <p:nvPr>
            <p:custDataLst>
              <p:tags r:id="rId16"/>
            </p:custDataLst>
          </p:nvPr>
        </p:nvSpPr>
        <p:spPr>
          <a:xfrm>
            <a:off x="3921670" y="4539614"/>
            <a:ext cx="1307079" cy="945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fontScale="90000" lnSpcReduction="20000"/>
          </a:bodyPr>
          <a:p>
            <a:pPr marL="0" indent="0" algn="ctr">
              <a:lnSpc>
                <a:spcPct val="130000"/>
              </a:lnSpc>
              <a:buNone/>
            </a:pPr>
            <a:r>
              <a:rPr 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加工层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(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双模式可选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):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本地模式零成本清洗重组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 /  API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模式调用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LLM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深度加工生成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6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大模块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4" name="矩形 62"/>
          <p:cNvSpPr/>
          <p:nvPr>
            <p:custDataLst>
              <p:tags r:id="rId17"/>
            </p:custDataLst>
          </p:nvPr>
        </p:nvSpPr>
        <p:spPr>
          <a:xfrm>
            <a:off x="5442837" y="1865427"/>
            <a:ext cx="1307079" cy="945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 fontScale="70000"/>
          </a:bodyPr>
          <a:p>
            <a:pPr marL="0" indent="0" algn="ctr">
              <a:lnSpc>
                <a:spcPct val="130000"/>
              </a:lnSpc>
              <a:buNone/>
            </a:pPr>
            <a:r>
              <a:rPr 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增值层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:excel_charter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解析表格数据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→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自动统计图表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;AI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生成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Markmap + Mermaid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思维导图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5" name="矩形 63"/>
          <p:cNvSpPr/>
          <p:nvPr>
            <p:custDataLst>
              <p:tags r:id="rId18"/>
            </p:custDataLst>
          </p:nvPr>
        </p:nvSpPr>
        <p:spPr>
          <a:xfrm>
            <a:off x="2400503" y="1865427"/>
            <a:ext cx="1307079" cy="945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 fontScale="90000" lnSpcReduction="20000"/>
          </a:bodyPr>
          <a:p>
            <a:pPr marL="0" indent="0" algn="ctr">
              <a:lnSpc>
                <a:spcPct val="130000"/>
              </a:lnSpc>
              <a:buNone/>
            </a:pPr>
            <a:r>
              <a:rPr 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提取层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:OCR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引擎与文档提取器将原始素材转换为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output_md/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下的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Markdown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知识库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6" name="任意多边形: 形状 4"/>
          <p:cNvSpPr/>
          <p:nvPr>
            <p:custDataLst>
              <p:tags r:id="rId19"/>
            </p:custDataLst>
          </p:nvPr>
        </p:nvSpPr>
        <p:spPr>
          <a:xfrm>
            <a:off x="7448359" y="3042259"/>
            <a:ext cx="338623" cy="325412"/>
          </a:xfrm>
          <a:custGeom>
            <a:avLst/>
            <a:gdLst>
              <a:gd name="connsiteX0" fmla="*/ 425297 w 451490"/>
              <a:gd name="connsiteY0" fmla="*/ 115 h 433876"/>
              <a:gd name="connsiteX1" fmla="*/ 26393 w 451490"/>
              <a:gd name="connsiteY1" fmla="*/ 115 h 433876"/>
              <a:gd name="connsiteX2" fmla="*/ 115 w 451490"/>
              <a:gd name="connsiteY2" fmla="*/ 25403 h 433876"/>
              <a:gd name="connsiteX3" fmla="*/ 115 w 451490"/>
              <a:gd name="connsiteY3" fmla="*/ 95276 h 433876"/>
              <a:gd name="connsiteX4" fmla="*/ 26393 w 451490"/>
              <a:gd name="connsiteY4" fmla="*/ 120564 h 433876"/>
              <a:gd name="connsiteX5" fmla="*/ 425297 w 451490"/>
              <a:gd name="connsiteY5" fmla="*/ 120564 h 433876"/>
              <a:gd name="connsiteX6" fmla="*/ 451605 w 451490"/>
              <a:gd name="connsiteY6" fmla="*/ 95276 h 433876"/>
              <a:gd name="connsiteX7" fmla="*/ 451605 w 451490"/>
              <a:gd name="connsiteY7" fmla="*/ 25403 h 433876"/>
              <a:gd name="connsiteX8" fmla="*/ 425297 w 451490"/>
              <a:gd name="connsiteY8" fmla="*/ 115 h 433876"/>
              <a:gd name="connsiteX9" fmla="*/ 418752 w 451490"/>
              <a:gd name="connsiteY9" fmla="*/ 88949 h 433876"/>
              <a:gd name="connsiteX10" fmla="*/ 309122 w 451490"/>
              <a:gd name="connsiteY10" fmla="*/ 88949 h 433876"/>
              <a:gd name="connsiteX11" fmla="*/ 309122 w 451490"/>
              <a:gd name="connsiteY11" fmla="*/ 31734 h 433876"/>
              <a:gd name="connsiteX12" fmla="*/ 418754 w 451490"/>
              <a:gd name="connsiteY12" fmla="*/ 31734 h 433876"/>
              <a:gd name="connsiteX13" fmla="*/ 418754 w 451490"/>
              <a:gd name="connsiteY13" fmla="*/ 88949 h 433876"/>
              <a:gd name="connsiteX14" fmla="*/ 418752 w 451490"/>
              <a:gd name="connsiteY14" fmla="*/ 88949 h 433876"/>
              <a:gd name="connsiteX15" fmla="*/ 425297 w 451490"/>
              <a:gd name="connsiteY15" fmla="*/ 156814 h 433876"/>
              <a:gd name="connsiteX16" fmla="*/ 26393 w 451490"/>
              <a:gd name="connsiteY16" fmla="*/ 156814 h 433876"/>
              <a:gd name="connsiteX17" fmla="*/ 115 w 451490"/>
              <a:gd name="connsiteY17" fmla="*/ 182101 h 433876"/>
              <a:gd name="connsiteX18" fmla="*/ 115 w 451490"/>
              <a:gd name="connsiteY18" fmla="*/ 251976 h 433876"/>
              <a:gd name="connsiteX19" fmla="*/ 26393 w 451490"/>
              <a:gd name="connsiteY19" fmla="*/ 277295 h 433876"/>
              <a:gd name="connsiteX20" fmla="*/ 425297 w 451490"/>
              <a:gd name="connsiteY20" fmla="*/ 277295 h 433876"/>
              <a:gd name="connsiteX21" fmla="*/ 451605 w 451490"/>
              <a:gd name="connsiteY21" fmla="*/ 251976 h 433876"/>
              <a:gd name="connsiteX22" fmla="*/ 451605 w 451490"/>
              <a:gd name="connsiteY22" fmla="*/ 182101 h 433876"/>
              <a:gd name="connsiteX23" fmla="*/ 425297 w 451490"/>
              <a:gd name="connsiteY23" fmla="*/ 156814 h 433876"/>
              <a:gd name="connsiteX24" fmla="*/ 418752 w 451490"/>
              <a:gd name="connsiteY24" fmla="*/ 245675 h 433876"/>
              <a:gd name="connsiteX25" fmla="*/ 178503 w 451490"/>
              <a:gd name="connsiteY25" fmla="*/ 245675 h 433876"/>
              <a:gd name="connsiteX26" fmla="*/ 178503 w 451490"/>
              <a:gd name="connsiteY26" fmla="*/ 188432 h 433876"/>
              <a:gd name="connsiteX27" fmla="*/ 418752 w 451490"/>
              <a:gd name="connsiteY27" fmla="*/ 188432 h 433876"/>
              <a:gd name="connsiteX28" fmla="*/ 418752 w 451490"/>
              <a:gd name="connsiteY28" fmla="*/ 245675 h 433876"/>
              <a:gd name="connsiteX29" fmla="*/ 425297 w 451490"/>
              <a:gd name="connsiteY29" fmla="*/ 313543 h 433876"/>
              <a:gd name="connsiteX30" fmla="*/ 26393 w 451490"/>
              <a:gd name="connsiteY30" fmla="*/ 313543 h 433876"/>
              <a:gd name="connsiteX31" fmla="*/ 115 w 451490"/>
              <a:gd name="connsiteY31" fmla="*/ 338830 h 433876"/>
              <a:gd name="connsiteX32" fmla="*/ 115 w 451490"/>
              <a:gd name="connsiteY32" fmla="*/ 408705 h 433876"/>
              <a:gd name="connsiteX33" fmla="*/ 26393 w 451490"/>
              <a:gd name="connsiteY33" fmla="*/ 433992 h 433876"/>
              <a:gd name="connsiteX34" fmla="*/ 425297 w 451490"/>
              <a:gd name="connsiteY34" fmla="*/ 433992 h 433876"/>
              <a:gd name="connsiteX35" fmla="*/ 451605 w 451490"/>
              <a:gd name="connsiteY35" fmla="*/ 408705 h 433876"/>
              <a:gd name="connsiteX36" fmla="*/ 451605 w 451490"/>
              <a:gd name="connsiteY36" fmla="*/ 338830 h 433876"/>
              <a:gd name="connsiteX37" fmla="*/ 425297 w 451490"/>
              <a:gd name="connsiteY37" fmla="*/ 313543 h 433876"/>
              <a:gd name="connsiteX38" fmla="*/ 418752 w 451490"/>
              <a:gd name="connsiteY38" fmla="*/ 402376 h 433876"/>
              <a:gd name="connsiteX39" fmla="*/ 251652 w 451490"/>
              <a:gd name="connsiteY39" fmla="*/ 402376 h 433876"/>
              <a:gd name="connsiteX40" fmla="*/ 251652 w 451490"/>
              <a:gd name="connsiteY40" fmla="*/ 345161 h 433876"/>
              <a:gd name="connsiteX41" fmla="*/ 418752 w 451490"/>
              <a:gd name="connsiteY41" fmla="*/ 345161 h 433876"/>
              <a:gd name="connsiteX42" fmla="*/ 418752 w 451490"/>
              <a:gd name="connsiteY42" fmla="*/ 402376 h 433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1490" h="433876">
                <a:moveTo>
                  <a:pt x="425297" y="115"/>
                </a:moveTo>
                <a:lnTo>
                  <a:pt x="26393" y="115"/>
                </a:lnTo>
                <a:cubicBezTo>
                  <a:pt x="11891" y="115"/>
                  <a:pt x="115" y="11448"/>
                  <a:pt x="115" y="25403"/>
                </a:cubicBezTo>
                <a:lnTo>
                  <a:pt x="115" y="95276"/>
                </a:lnTo>
                <a:cubicBezTo>
                  <a:pt x="115" y="109233"/>
                  <a:pt x="11891" y="120564"/>
                  <a:pt x="26393" y="120564"/>
                </a:cubicBezTo>
                <a:lnTo>
                  <a:pt x="425297" y="120564"/>
                </a:lnTo>
                <a:cubicBezTo>
                  <a:pt x="439798" y="120564"/>
                  <a:pt x="451605" y="109233"/>
                  <a:pt x="451605" y="95276"/>
                </a:cubicBezTo>
                <a:lnTo>
                  <a:pt x="451605" y="25403"/>
                </a:lnTo>
                <a:cubicBezTo>
                  <a:pt x="451605" y="11448"/>
                  <a:pt x="439798" y="115"/>
                  <a:pt x="425297" y="115"/>
                </a:cubicBezTo>
                <a:moveTo>
                  <a:pt x="418752" y="88949"/>
                </a:moveTo>
                <a:lnTo>
                  <a:pt x="309122" y="88949"/>
                </a:lnTo>
                <a:lnTo>
                  <a:pt x="309122" y="31734"/>
                </a:lnTo>
                <a:lnTo>
                  <a:pt x="418754" y="31734"/>
                </a:lnTo>
                <a:lnTo>
                  <a:pt x="418754" y="88949"/>
                </a:lnTo>
                <a:lnTo>
                  <a:pt x="418752" y="88949"/>
                </a:lnTo>
                <a:moveTo>
                  <a:pt x="425297" y="156814"/>
                </a:moveTo>
                <a:lnTo>
                  <a:pt x="26393" y="156814"/>
                </a:lnTo>
                <a:cubicBezTo>
                  <a:pt x="11891" y="156814"/>
                  <a:pt x="115" y="168145"/>
                  <a:pt x="115" y="182101"/>
                </a:cubicBezTo>
                <a:lnTo>
                  <a:pt x="115" y="251976"/>
                </a:lnTo>
                <a:cubicBezTo>
                  <a:pt x="115" y="265932"/>
                  <a:pt x="11891" y="277295"/>
                  <a:pt x="26393" y="277295"/>
                </a:cubicBezTo>
                <a:lnTo>
                  <a:pt x="425297" y="277295"/>
                </a:lnTo>
                <a:cubicBezTo>
                  <a:pt x="439798" y="277295"/>
                  <a:pt x="451605" y="265932"/>
                  <a:pt x="451605" y="251976"/>
                </a:cubicBezTo>
                <a:lnTo>
                  <a:pt x="451605" y="182101"/>
                </a:lnTo>
                <a:cubicBezTo>
                  <a:pt x="451605" y="168145"/>
                  <a:pt x="439798" y="156814"/>
                  <a:pt x="425297" y="156814"/>
                </a:cubicBezTo>
                <a:moveTo>
                  <a:pt x="418752" y="245675"/>
                </a:moveTo>
                <a:lnTo>
                  <a:pt x="178503" y="245675"/>
                </a:lnTo>
                <a:lnTo>
                  <a:pt x="178503" y="188432"/>
                </a:lnTo>
                <a:lnTo>
                  <a:pt x="418752" y="188432"/>
                </a:lnTo>
                <a:lnTo>
                  <a:pt x="418752" y="245675"/>
                </a:lnTo>
                <a:moveTo>
                  <a:pt x="425297" y="313543"/>
                </a:moveTo>
                <a:lnTo>
                  <a:pt x="26393" y="313543"/>
                </a:lnTo>
                <a:cubicBezTo>
                  <a:pt x="11891" y="313543"/>
                  <a:pt x="115" y="324874"/>
                  <a:pt x="115" y="338830"/>
                </a:cubicBezTo>
                <a:lnTo>
                  <a:pt x="115" y="408705"/>
                </a:lnTo>
                <a:cubicBezTo>
                  <a:pt x="115" y="422661"/>
                  <a:pt x="11891" y="433992"/>
                  <a:pt x="26393" y="433992"/>
                </a:cubicBezTo>
                <a:lnTo>
                  <a:pt x="425297" y="433992"/>
                </a:lnTo>
                <a:cubicBezTo>
                  <a:pt x="439798" y="433992"/>
                  <a:pt x="451605" y="422661"/>
                  <a:pt x="451605" y="408705"/>
                </a:cubicBezTo>
                <a:lnTo>
                  <a:pt x="451605" y="338830"/>
                </a:lnTo>
                <a:cubicBezTo>
                  <a:pt x="451605" y="324874"/>
                  <a:pt x="439798" y="313543"/>
                  <a:pt x="425297" y="313543"/>
                </a:cubicBezTo>
                <a:moveTo>
                  <a:pt x="418752" y="402376"/>
                </a:moveTo>
                <a:lnTo>
                  <a:pt x="251652" y="402376"/>
                </a:lnTo>
                <a:lnTo>
                  <a:pt x="251652" y="345161"/>
                </a:lnTo>
                <a:lnTo>
                  <a:pt x="418752" y="345161"/>
                </a:lnTo>
                <a:lnTo>
                  <a:pt x="418752" y="402376"/>
                </a:lnTo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100000"/>
                </a:schemeClr>
              </a:gs>
              <a:gs pos="50000">
                <a:schemeClr val="accent5">
                  <a:alpha val="100000"/>
                </a:schemeClr>
              </a:gs>
            </a:gsLst>
            <a:lin ang="5400000" scaled="1"/>
          </a:gradFill>
          <a:ln w="17224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5"/>
          <p:cNvSpPr/>
          <p:nvPr>
            <p:custDataLst>
              <p:tags r:id="rId20"/>
            </p:custDataLst>
          </p:nvPr>
        </p:nvSpPr>
        <p:spPr>
          <a:xfrm>
            <a:off x="5951481" y="3913811"/>
            <a:ext cx="289953" cy="338623"/>
          </a:xfrm>
          <a:custGeom>
            <a:avLst/>
            <a:gdLst>
              <a:gd name="connsiteX0" fmla="*/ 214167 w 386598"/>
              <a:gd name="connsiteY0" fmla="*/ 114 h 451490"/>
              <a:gd name="connsiteX1" fmla="*/ 43807 w 386598"/>
              <a:gd name="connsiteY1" fmla="*/ 145271 h 451490"/>
              <a:gd name="connsiteX2" fmla="*/ 2505 w 386598"/>
              <a:gd name="connsiteY2" fmla="*/ 218136 h 451490"/>
              <a:gd name="connsiteX3" fmla="*/ 18304 w 386598"/>
              <a:gd name="connsiteY3" fmla="*/ 245252 h 451490"/>
              <a:gd name="connsiteX4" fmla="*/ 46170 w 386598"/>
              <a:gd name="connsiteY4" fmla="*/ 245252 h 451490"/>
              <a:gd name="connsiteX5" fmla="*/ 46170 w 386598"/>
              <a:gd name="connsiteY5" fmla="*/ 335814 h 451490"/>
              <a:gd name="connsiteX6" fmla="*/ 94960 w 386598"/>
              <a:gd name="connsiteY6" fmla="*/ 374269 h 451490"/>
              <a:gd name="connsiteX7" fmla="*/ 126209 w 386598"/>
              <a:gd name="connsiteY7" fmla="*/ 369951 h 451490"/>
              <a:gd name="connsiteX8" fmla="*/ 126209 w 386598"/>
              <a:gd name="connsiteY8" fmla="*/ 422434 h 451490"/>
              <a:gd name="connsiteX9" fmla="*/ 155383 w 386598"/>
              <a:gd name="connsiteY9" fmla="*/ 451604 h 451490"/>
              <a:gd name="connsiteX10" fmla="*/ 250205 w 386598"/>
              <a:gd name="connsiteY10" fmla="*/ 451604 h 451490"/>
              <a:gd name="connsiteX11" fmla="*/ 279384 w 386598"/>
              <a:gd name="connsiteY11" fmla="*/ 422434 h 451490"/>
              <a:gd name="connsiteX12" fmla="*/ 279384 w 386598"/>
              <a:gd name="connsiteY12" fmla="*/ 332328 h 451490"/>
              <a:gd name="connsiteX13" fmla="*/ 386715 w 386598"/>
              <a:gd name="connsiteY13" fmla="*/ 172616 h 451490"/>
              <a:gd name="connsiteX14" fmla="*/ 214167 w 386598"/>
              <a:gd name="connsiteY14" fmla="*/ 114 h 451490"/>
              <a:gd name="connsiteX15" fmla="*/ 276823 w 386598"/>
              <a:gd name="connsiteY15" fmla="*/ 155545 h 451490"/>
              <a:gd name="connsiteX16" fmla="*/ 182758 w 386598"/>
              <a:gd name="connsiteY16" fmla="*/ 254418 h 451490"/>
              <a:gd name="connsiteX17" fmla="*/ 170255 w 386598"/>
              <a:gd name="connsiteY17" fmla="*/ 248333 h 451490"/>
              <a:gd name="connsiteX18" fmla="*/ 180162 w 386598"/>
              <a:gd name="connsiteY18" fmla="*/ 180637 h 451490"/>
              <a:gd name="connsiteX19" fmla="*/ 137155 w 386598"/>
              <a:gd name="connsiteY19" fmla="*/ 180637 h 451490"/>
              <a:gd name="connsiteX20" fmla="*/ 131868 w 386598"/>
              <a:gd name="connsiteY20" fmla="*/ 168321 h 451490"/>
              <a:gd name="connsiteX21" fmla="*/ 225940 w 386598"/>
              <a:gd name="connsiteY21" fmla="*/ 69450 h 451490"/>
              <a:gd name="connsiteX22" fmla="*/ 238442 w 386598"/>
              <a:gd name="connsiteY22" fmla="*/ 75534 h 451490"/>
              <a:gd name="connsiteX23" fmla="*/ 228535 w 386598"/>
              <a:gd name="connsiteY23" fmla="*/ 143230 h 451490"/>
              <a:gd name="connsiteX24" fmla="*/ 271541 w 386598"/>
              <a:gd name="connsiteY24" fmla="*/ 143230 h 451490"/>
              <a:gd name="connsiteX25" fmla="*/ 276823 w 386598"/>
              <a:gd name="connsiteY25" fmla="*/ 155545 h 45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86598" h="451490">
                <a:moveTo>
                  <a:pt x="214167" y="114"/>
                </a:moveTo>
                <a:cubicBezTo>
                  <a:pt x="128184" y="114"/>
                  <a:pt x="56914" y="62996"/>
                  <a:pt x="43807" y="145271"/>
                </a:cubicBezTo>
                <a:lnTo>
                  <a:pt x="2505" y="218136"/>
                </a:lnTo>
                <a:cubicBezTo>
                  <a:pt x="-4359" y="230241"/>
                  <a:pt x="4387" y="245252"/>
                  <a:pt x="18304" y="245252"/>
                </a:cubicBezTo>
                <a:lnTo>
                  <a:pt x="46170" y="245252"/>
                </a:lnTo>
                <a:lnTo>
                  <a:pt x="46170" y="335814"/>
                </a:lnTo>
                <a:cubicBezTo>
                  <a:pt x="46170" y="361390"/>
                  <a:pt x="70085" y="380239"/>
                  <a:pt x="94960" y="374269"/>
                </a:cubicBezTo>
                <a:lnTo>
                  <a:pt x="126209" y="369951"/>
                </a:lnTo>
                <a:lnTo>
                  <a:pt x="126209" y="422434"/>
                </a:lnTo>
                <a:cubicBezTo>
                  <a:pt x="126209" y="438545"/>
                  <a:pt x="139271" y="451604"/>
                  <a:pt x="155383" y="451604"/>
                </a:cubicBezTo>
                <a:lnTo>
                  <a:pt x="250205" y="451604"/>
                </a:lnTo>
                <a:cubicBezTo>
                  <a:pt x="266320" y="451604"/>
                  <a:pt x="279384" y="438545"/>
                  <a:pt x="279384" y="422434"/>
                </a:cubicBezTo>
                <a:lnTo>
                  <a:pt x="279384" y="332328"/>
                </a:lnTo>
                <a:cubicBezTo>
                  <a:pt x="342340" y="306610"/>
                  <a:pt x="386715" y="244803"/>
                  <a:pt x="386715" y="172616"/>
                </a:cubicBezTo>
                <a:cubicBezTo>
                  <a:pt x="386710" y="77340"/>
                  <a:pt x="309457" y="114"/>
                  <a:pt x="214167" y="114"/>
                </a:cubicBezTo>
                <a:moveTo>
                  <a:pt x="276823" y="155545"/>
                </a:moveTo>
                <a:lnTo>
                  <a:pt x="182758" y="254418"/>
                </a:lnTo>
                <a:cubicBezTo>
                  <a:pt x="177856" y="259571"/>
                  <a:pt x="169229" y="255372"/>
                  <a:pt x="170255" y="248333"/>
                </a:cubicBezTo>
                <a:lnTo>
                  <a:pt x="180162" y="180637"/>
                </a:lnTo>
                <a:lnTo>
                  <a:pt x="137155" y="180637"/>
                </a:lnTo>
                <a:cubicBezTo>
                  <a:pt x="130744" y="180637"/>
                  <a:pt x="127454" y="172967"/>
                  <a:pt x="131868" y="168321"/>
                </a:cubicBezTo>
                <a:lnTo>
                  <a:pt x="225940" y="69450"/>
                </a:lnTo>
                <a:cubicBezTo>
                  <a:pt x="230842" y="64295"/>
                  <a:pt x="239469" y="68495"/>
                  <a:pt x="238442" y="75534"/>
                </a:cubicBezTo>
                <a:lnTo>
                  <a:pt x="228535" y="143230"/>
                </a:lnTo>
                <a:lnTo>
                  <a:pt x="271541" y="143230"/>
                </a:lnTo>
                <a:cubicBezTo>
                  <a:pt x="277946" y="143230"/>
                  <a:pt x="281243" y="150900"/>
                  <a:pt x="276823" y="155545"/>
                </a:cubicBezTo>
              </a:path>
            </a:pathLst>
          </a:custGeom>
          <a:gradFill>
            <a:gsLst>
              <a:gs pos="0">
                <a:schemeClr val="accent4">
                  <a:lumMod val="60000"/>
                  <a:lumOff val="40000"/>
                  <a:alpha val="100000"/>
                </a:schemeClr>
              </a:gs>
              <a:gs pos="50000">
                <a:schemeClr val="accent4">
                  <a:alpha val="100000"/>
                </a:schemeClr>
              </a:gs>
            </a:gsLst>
            <a:lin ang="5400000" scaled="1"/>
          </a:gradFill>
          <a:ln w="16007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6"/>
          <p:cNvSpPr/>
          <p:nvPr>
            <p:custDataLst>
              <p:tags r:id="rId21"/>
            </p:custDataLst>
          </p:nvPr>
        </p:nvSpPr>
        <p:spPr>
          <a:xfrm>
            <a:off x="4428885" y="3044641"/>
            <a:ext cx="292899" cy="329570"/>
          </a:xfrm>
          <a:custGeom>
            <a:avLst/>
            <a:gdLst>
              <a:gd name="connsiteX0" fmla="*/ 302616 w 401262"/>
              <a:gd name="connsiteY0" fmla="*/ 115 h 451491"/>
              <a:gd name="connsiteX1" fmla="*/ 33562 w 401262"/>
              <a:gd name="connsiteY1" fmla="*/ 157 h 451491"/>
              <a:gd name="connsiteX2" fmla="*/ 121 w 401262"/>
              <a:gd name="connsiteY2" fmla="*/ 33603 h 451491"/>
              <a:gd name="connsiteX3" fmla="*/ 116 w 401262"/>
              <a:gd name="connsiteY3" fmla="*/ 418145 h 451491"/>
              <a:gd name="connsiteX4" fmla="*/ 33562 w 401262"/>
              <a:gd name="connsiteY4" fmla="*/ 451591 h 451491"/>
              <a:gd name="connsiteX5" fmla="*/ 367933 w 401262"/>
              <a:gd name="connsiteY5" fmla="*/ 451606 h 451491"/>
              <a:gd name="connsiteX6" fmla="*/ 401379 w 401262"/>
              <a:gd name="connsiteY6" fmla="*/ 418160 h 451491"/>
              <a:gd name="connsiteX7" fmla="*/ 401379 w 401262"/>
              <a:gd name="connsiteY7" fmla="*/ 418145 h 451491"/>
              <a:gd name="connsiteX8" fmla="*/ 401228 w 401262"/>
              <a:gd name="connsiteY8" fmla="*/ 97276 h 451491"/>
              <a:gd name="connsiteX9" fmla="*/ 302616 w 401262"/>
              <a:gd name="connsiteY9" fmla="*/ 115 h 451491"/>
              <a:gd name="connsiteX10" fmla="*/ 327815 w 401262"/>
              <a:gd name="connsiteY10" fmla="*/ 249175 h 451491"/>
              <a:gd name="connsiteX11" fmla="*/ 324696 w 401262"/>
              <a:gd name="connsiteY11" fmla="*/ 253416 h 451491"/>
              <a:gd name="connsiteX12" fmla="*/ 322580 w 401262"/>
              <a:gd name="connsiteY12" fmla="*/ 253857 h 451491"/>
              <a:gd name="connsiteX13" fmla="*/ 319416 w 401262"/>
              <a:gd name="connsiteY13" fmla="*/ 252814 h 451491"/>
              <a:gd name="connsiteX14" fmla="*/ 287419 w 401262"/>
              <a:gd name="connsiteY14" fmla="*/ 229099 h 451491"/>
              <a:gd name="connsiteX15" fmla="*/ 220818 w 401262"/>
              <a:gd name="connsiteY15" fmla="*/ 315334 h 451491"/>
              <a:gd name="connsiteX16" fmla="*/ 198932 w 401262"/>
              <a:gd name="connsiteY16" fmla="*/ 318456 h 451491"/>
              <a:gd name="connsiteX17" fmla="*/ 146847 w 401262"/>
              <a:gd name="connsiteY17" fmla="*/ 280830 h 451491"/>
              <a:gd name="connsiteX18" fmla="*/ 92065 w 401262"/>
              <a:gd name="connsiteY18" fmla="*/ 345755 h 451491"/>
              <a:gd name="connsiteX19" fmla="*/ 79923 w 401262"/>
              <a:gd name="connsiteY19" fmla="*/ 351362 h 451491"/>
              <a:gd name="connsiteX20" fmla="*/ 69846 w 401262"/>
              <a:gd name="connsiteY20" fmla="*/ 347768 h 451491"/>
              <a:gd name="connsiteX21" fmla="*/ 67802 w 401262"/>
              <a:gd name="connsiteY21" fmla="*/ 325876 h 451491"/>
              <a:gd name="connsiteX22" fmla="*/ 132070 w 401262"/>
              <a:gd name="connsiteY22" fmla="*/ 249707 h 451491"/>
              <a:gd name="connsiteX23" fmla="*/ 153529 w 401262"/>
              <a:gd name="connsiteY23" fmla="*/ 247111 h 451491"/>
              <a:gd name="connsiteX24" fmla="*/ 205091 w 401262"/>
              <a:gd name="connsiteY24" fmla="*/ 284353 h 451491"/>
              <a:gd name="connsiteX25" fmla="*/ 262200 w 401262"/>
              <a:gd name="connsiteY25" fmla="*/ 210408 h 451491"/>
              <a:gd name="connsiteX26" fmla="*/ 240325 w 401262"/>
              <a:gd name="connsiteY26" fmla="*/ 194195 h 451491"/>
              <a:gd name="connsiteX27" fmla="*/ 238277 w 401262"/>
              <a:gd name="connsiteY27" fmla="*/ 189367 h 451491"/>
              <a:gd name="connsiteX28" fmla="*/ 241548 w 401262"/>
              <a:gd name="connsiteY28" fmla="*/ 185238 h 451491"/>
              <a:gd name="connsiteX29" fmla="*/ 329828 w 401262"/>
              <a:gd name="connsiteY29" fmla="*/ 150703 h 451491"/>
              <a:gd name="connsiteX30" fmla="*/ 334934 w 401262"/>
              <a:gd name="connsiteY30" fmla="*/ 151381 h 451491"/>
              <a:gd name="connsiteX31" fmla="*/ 337002 w 401262"/>
              <a:gd name="connsiteY31" fmla="*/ 156022 h 451491"/>
              <a:gd name="connsiteX32" fmla="*/ 327815 w 401262"/>
              <a:gd name="connsiteY32" fmla="*/ 249175 h 451491"/>
              <a:gd name="connsiteX33" fmla="*/ 296620 w 401262"/>
              <a:gd name="connsiteY33" fmla="*/ 117167 h 451491"/>
              <a:gd name="connsiteX34" fmla="*/ 285243 w 401262"/>
              <a:gd name="connsiteY34" fmla="*/ 105963 h 451491"/>
              <a:gd name="connsiteX35" fmla="*/ 285243 w 401262"/>
              <a:gd name="connsiteY35" fmla="*/ 17794 h 451491"/>
              <a:gd name="connsiteX36" fmla="*/ 386107 w 401262"/>
              <a:gd name="connsiteY36" fmla="*/ 117167 h 451491"/>
              <a:gd name="connsiteX37" fmla="*/ 296620 w 401262"/>
              <a:gd name="connsiteY37" fmla="*/ 117167 h 45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01262" h="451491">
                <a:moveTo>
                  <a:pt x="302616" y="115"/>
                </a:moveTo>
                <a:lnTo>
                  <a:pt x="33562" y="157"/>
                </a:lnTo>
                <a:cubicBezTo>
                  <a:pt x="15092" y="160"/>
                  <a:pt x="121" y="15133"/>
                  <a:pt x="121" y="33603"/>
                </a:cubicBezTo>
                <a:lnTo>
                  <a:pt x="116" y="418145"/>
                </a:lnTo>
                <a:cubicBezTo>
                  <a:pt x="116" y="436617"/>
                  <a:pt x="15090" y="451591"/>
                  <a:pt x="33562" y="451591"/>
                </a:cubicBezTo>
                <a:lnTo>
                  <a:pt x="367933" y="451606"/>
                </a:lnTo>
                <a:cubicBezTo>
                  <a:pt x="386405" y="451606"/>
                  <a:pt x="401379" y="436631"/>
                  <a:pt x="401379" y="418160"/>
                </a:cubicBezTo>
                <a:cubicBezTo>
                  <a:pt x="401379" y="418155"/>
                  <a:pt x="401379" y="418150"/>
                  <a:pt x="401379" y="418145"/>
                </a:cubicBezTo>
                <a:lnTo>
                  <a:pt x="401228" y="97276"/>
                </a:lnTo>
                <a:lnTo>
                  <a:pt x="302616" y="115"/>
                </a:lnTo>
                <a:moveTo>
                  <a:pt x="327815" y="249175"/>
                </a:moveTo>
                <a:cubicBezTo>
                  <a:pt x="327631" y="251041"/>
                  <a:pt x="326438" y="252663"/>
                  <a:pt x="324696" y="253416"/>
                </a:cubicBezTo>
                <a:cubicBezTo>
                  <a:pt x="324030" y="253707"/>
                  <a:pt x="323309" y="253856"/>
                  <a:pt x="322580" y="253857"/>
                </a:cubicBezTo>
                <a:cubicBezTo>
                  <a:pt x="321460" y="253857"/>
                  <a:pt x="320346" y="253503"/>
                  <a:pt x="319416" y="252814"/>
                </a:cubicBezTo>
                <a:lnTo>
                  <a:pt x="287419" y="229099"/>
                </a:lnTo>
                <a:lnTo>
                  <a:pt x="220818" y="315334"/>
                </a:lnTo>
                <a:cubicBezTo>
                  <a:pt x="215600" y="322095"/>
                  <a:pt x="205871" y="323487"/>
                  <a:pt x="198932" y="318456"/>
                </a:cubicBezTo>
                <a:lnTo>
                  <a:pt x="146847" y="280830"/>
                </a:lnTo>
                <a:lnTo>
                  <a:pt x="92065" y="345755"/>
                </a:lnTo>
                <a:cubicBezTo>
                  <a:pt x="88947" y="349454"/>
                  <a:pt x="84454" y="351362"/>
                  <a:pt x="79923" y="351362"/>
                </a:cubicBezTo>
                <a:cubicBezTo>
                  <a:pt x="76241" y="351365"/>
                  <a:pt x="72674" y="350093"/>
                  <a:pt x="69846" y="347768"/>
                </a:cubicBezTo>
                <a:cubicBezTo>
                  <a:pt x="63144" y="342283"/>
                  <a:pt x="62229" y="332480"/>
                  <a:pt x="67802" y="325876"/>
                </a:cubicBezTo>
                <a:lnTo>
                  <a:pt x="132070" y="249707"/>
                </a:lnTo>
                <a:cubicBezTo>
                  <a:pt x="137391" y="243380"/>
                  <a:pt x="146801" y="242231"/>
                  <a:pt x="153529" y="247111"/>
                </a:cubicBezTo>
                <a:lnTo>
                  <a:pt x="205091" y="284353"/>
                </a:lnTo>
                <a:lnTo>
                  <a:pt x="262200" y="210408"/>
                </a:lnTo>
                <a:lnTo>
                  <a:pt x="240325" y="194195"/>
                </a:lnTo>
                <a:cubicBezTo>
                  <a:pt x="238807" y="193069"/>
                  <a:pt x="238024" y="191223"/>
                  <a:pt x="238277" y="189367"/>
                </a:cubicBezTo>
                <a:cubicBezTo>
                  <a:pt x="238529" y="187509"/>
                  <a:pt x="239780" y="185930"/>
                  <a:pt x="241548" y="185238"/>
                </a:cubicBezTo>
                <a:lnTo>
                  <a:pt x="329828" y="150703"/>
                </a:lnTo>
                <a:cubicBezTo>
                  <a:pt x="331534" y="150039"/>
                  <a:pt x="333467" y="150296"/>
                  <a:pt x="334934" y="151381"/>
                </a:cubicBezTo>
                <a:cubicBezTo>
                  <a:pt x="336397" y="152466"/>
                  <a:pt x="337183" y="154225"/>
                  <a:pt x="337002" y="156022"/>
                </a:cubicBezTo>
                <a:lnTo>
                  <a:pt x="327815" y="249175"/>
                </a:lnTo>
                <a:moveTo>
                  <a:pt x="296620" y="117167"/>
                </a:moveTo>
                <a:cubicBezTo>
                  <a:pt x="290335" y="117167"/>
                  <a:pt x="285243" y="112151"/>
                  <a:pt x="285243" y="105963"/>
                </a:cubicBezTo>
                <a:lnTo>
                  <a:pt x="285243" y="17794"/>
                </a:lnTo>
                <a:lnTo>
                  <a:pt x="386107" y="117167"/>
                </a:lnTo>
                <a:lnTo>
                  <a:pt x="296620" y="117167"/>
                </a:lnTo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  <a:alpha val="100000"/>
                </a:schemeClr>
              </a:gs>
              <a:gs pos="50000">
                <a:schemeClr val="accent3">
                  <a:alpha val="100000"/>
                </a:schemeClr>
              </a:gs>
            </a:gsLst>
            <a:lin ang="5400000" scaled="1"/>
          </a:gradFill>
          <a:ln w="16584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7"/>
          <p:cNvSpPr/>
          <p:nvPr>
            <p:custDataLst>
              <p:tags r:id="rId22"/>
            </p:custDataLst>
          </p:nvPr>
        </p:nvSpPr>
        <p:spPr>
          <a:xfrm>
            <a:off x="2889620" y="3913811"/>
            <a:ext cx="328618" cy="328618"/>
          </a:xfrm>
          <a:custGeom>
            <a:avLst/>
            <a:gdLst>
              <a:gd name="connsiteX0" fmla="*/ 225860 w 451491"/>
              <a:gd name="connsiteY0" fmla="*/ 451605 h 451490"/>
              <a:gd name="connsiteX1" fmla="*/ 114 w 451491"/>
              <a:gd name="connsiteY1" fmla="*/ 225859 h 451490"/>
              <a:gd name="connsiteX2" fmla="*/ 225860 w 451491"/>
              <a:gd name="connsiteY2" fmla="*/ 114 h 451490"/>
              <a:gd name="connsiteX3" fmla="*/ 451606 w 451491"/>
              <a:gd name="connsiteY3" fmla="*/ 225859 h 451490"/>
              <a:gd name="connsiteX4" fmla="*/ 225860 w 451491"/>
              <a:gd name="connsiteY4" fmla="*/ 451605 h 451490"/>
              <a:gd name="connsiteX5" fmla="*/ 373132 w 451491"/>
              <a:gd name="connsiteY5" fmla="*/ 261724 h 451490"/>
              <a:gd name="connsiteX6" fmla="*/ 384972 w 451491"/>
              <a:gd name="connsiteY6" fmla="*/ 232968 h 451490"/>
              <a:gd name="connsiteX7" fmla="*/ 373132 w 451491"/>
              <a:gd name="connsiteY7" fmla="*/ 203651 h 451490"/>
              <a:gd name="connsiteX8" fmla="*/ 343814 w 451491"/>
              <a:gd name="connsiteY8" fmla="*/ 191810 h 451490"/>
              <a:gd name="connsiteX9" fmla="*/ 314494 w 451491"/>
              <a:gd name="connsiteY9" fmla="*/ 203651 h 451490"/>
              <a:gd name="connsiteX10" fmla="*/ 312240 w 451491"/>
              <a:gd name="connsiteY10" fmla="*/ 207033 h 451490"/>
              <a:gd name="connsiteX11" fmla="*/ 244018 w 451491"/>
              <a:gd name="connsiteY11" fmla="*/ 178843 h 451490"/>
              <a:gd name="connsiteX12" fmla="*/ 244018 w 451491"/>
              <a:gd name="connsiteY12" fmla="*/ 168131 h 451490"/>
              <a:gd name="connsiteX13" fmla="*/ 224285 w 451491"/>
              <a:gd name="connsiteY13" fmla="*/ 119079 h 451490"/>
              <a:gd name="connsiteX14" fmla="*/ 174106 w 451491"/>
              <a:gd name="connsiteY14" fmla="*/ 98218 h 451490"/>
              <a:gd name="connsiteX15" fmla="*/ 125054 w 451491"/>
              <a:gd name="connsiteY15" fmla="*/ 119079 h 451490"/>
              <a:gd name="connsiteX16" fmla="*/ 104193 w 451491"/>
              <a:gd name="connsiteY16" fmla="*/ 168131 h 451490"/>
              <a:gd name="connsiteX17" fmla="*/ 125054 w 451491"/>
              <a:gd name="connsiteY17" fmla="*/ 218309 h 451490"/>
              <a:gd name="connsiteX18" fmla="*/ 162266 w 451491"/>
              <a:gd name="connsiteY18" fmla="*/ 238043 h 451490"/>
              <a:gd name="connsiteX19" fmla="*/ 162266 w 451491"/>
              <a:gd name="connsiteY19" fmla="*/ 276947 h 451490"/>
              <a:gd name="connsiteX20" fmla="*/ 142532 w 451491"/>
              <a:gd name="connsiteY20" fmla="*/ 288786 h 451490"/>
              <a:gd name="connsiteX21" fmla="*/ 127309 w 451491"/>
              <a:gd name="connsiteY21" fmla="*/ 325998 h 451490"/>
              <a:gd name="connsiteX22" fmla="*/ 142532 w 451491"/>
              <a:gd name="connsiteY22" fmla="*/ 363211 h 451490"/>
              <a:gd name="connsiteX23" fmla="*/ 179744 w 451491"/>
              <a:gd name="connsiteY23" fmla="*/ 378432 h 451490"/>
              <a:gd name="connsiteX24" fmla="*/ 216956 w 451491"/>
              <a:gd name="connsiteY24" fmla="*/ 363211 h 451490"/>
              <a:gd name="connsiteX25" fmla="*/ 232179 w 451491"/>
              <a:gd name="connsiteY25" fmla="*/ 325998 h 451490"/>
              <a:gd name="connsiteX26" fmla="*/ 231051 w 451491"/>
              <a:gd name="connsiteY26" fmla="*/ 314158 h 451490"/>
              <a:gd name="connsiteX27" fmla="*/ 316752 w 451491"/>
              <a:gd name="connsiteY27" fmla="*/ 262851 h 451490"/>
              <a:gd name="connsiteX28" fmla="*/ 343814 w 451491"/>
              <a:gd name="connsiteY28" fmla="*/ 273564 h 451490"/>
              <a:gd name="connsiteX29" fmla="*/ 373132 w 451491"/>
              <a:gd name="connsiteY29" fmla="*/ 261724 h 451490"/>
              <a:gd name="connsiteX30" fmla="*/ 304347 w 451491"/>
              <a:gd name="connsiteY30" fmla="*/ 227894 h 451490"/>
              <a:gd name="connsiteX31" fmla="*/ 302656 w 451491"/>
              <a:gd name="connsiteY31" fmla="*/ 231841 h 451490"/>
              <a:gd name="connsiteX32" fmla="*/ 304910 w 451491"/>
              <a:gd name="connsiteY32" fmla="*/ 243682 h 451490"/>
              <a:gd name="connsiteX33" fmla="*/ 219210 w 451491"/>
              <a:gd name="connsiteY33" fmla="*/ 291606 h 451490"/>
              <a:gd name="connsiteX34" fmla="*/ 216956 w 451491"/>
              <a:gd name="connsiteY34" fmla="*/ 288223 h 451490"/>
              <a:gd name="connsiteX35" fmla="*/ 185382 w 451491"/>
              <a:gd name="connsiteY35" fmla="*/ 274127 h 451490"/>
              <a:gd name="connsiteX36" fmla="*/ 185382 w 451491"/>
              <a:gd name="connsiteY36" fmla="*/ 238043 h 451490"/>
              <a:gd name="connsiteX37" fmla="*/ 224285 w 451491"/>
              <a:gd name="connsiteY37" fmla="*/ 218309 h 451490"/>
              <a:gd name="connsiteX38" fmla="*/ 236125 w 451491"/>
              <a:gd name="connsiteY38" fmla="*/ 201959 h 451490"/>
              <a:gd name="connsiteX39" fmla="*/ 304347 w 451491"/>
              <a:gd name="connsiteY39" fmla="*/ 227894 h 45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51491" h="451490">
                <a:moveTo>
                  <a:pt x="225860" y="451605"/>
                </a:moveTo>
                <a:cubicBezTo>
                  <a:pt x="101184" y="451605"/>
                  <a:pt x="114" y="350535"/>
                  <a:pt x="114" y="225859"/>
                </a:cubicBezTo>
                <a:cubicBezTo>
                  <a:pt x="114" y="101184"/>
                  <a:pt x="101184" y="114"/>
                  <a:pt x="225860" y="114"/>
                </a:cubicBezTo>
                <a:cubicBezTo>
                  <a:pt x="350536" y="114"/>
                  <a:pt x="451606" y="101184"/>
                  <a:pt x="451606" y="225859"/>
                </a:cubicBezTo>
                <a:cubicBezTo>
                  <a:pt x="451606" y="350535"/>
                  <a:pt x="350536" y="451605"/>
                  <a:pt x="225860" y="451605"/>
                </a:cubicBezTo>
                <a:moveTo>
                  <a:pt x="373132" y="261724"/>
                </a:moveTo>
                <a:cubicBezTo>
                  <a:pt x="381589" y="253831"/>
                  <a:pt x="384972" y="244246"/>
                  <a:pt x="384972" y="232968"/>
                </a:cubicBezTo>
                <a:cubicBezTo>
                  <a:pt x="384972" y="222257"/>
                  <a:pt x="381589" y="212108"/>
                  <a:pt x="373132" y="203651"/>
                </a:cubicBezTo>
                <a:cubicBezTo>
                  <a:pt x="364674" y="196322"/>
                  <a:pt x="355654" y="191810"/>
                  <a:pt x="343814" y="191810"/>
                </a:cubicBezTo>
                <a:cubicBezTo>
                  <a:pt x="333101" y="191810"/>
                  <a:pt x="322952" y="196885"/>
                  <a:pt x="314494" y="203651"/>
                </a:cubicBezTo>
                <a:cubicBezTo>
                  <a:pt x="314494" y="204779"/>
                  <a:pt x="313367" y="205906"/>
                  <a:pt x="312240" y="207033"/>
                </a:cubicBezTo>
                <a:lnTo>
                  <a:pt x="244018" y="178843"/>
                </a:lnTo>
                <a:lnTo>
                  <a:pt x="244018" y="168131"/>
                </a:lnTo>
                <a:cubicBezTo>
                  <a:pt x="244018" y="149525"/>
                  <a:pt x="237254" y="132047"/>
                  <a:pt x="224285" y="119079"/>
                </a:cubicBezTo>
                <a:cubicBezTo>
                  <a:pt x="210190" y="104984"/>
                  <a:pt x="193840" y="98218"/>
                  <a:pt x="174106" y="98218"/>
                </a:cubicBezTo>
                <a:cubicBezTo>
                  <a:pt x="155500" y="98218"/>
                  <a:pt x="138022" y="104984"/>
                  <a:pt x="125054" y="119079"/>
                </a:cubicBezTo>
                <a:cubicBezTo>
                  <a:pt x="110959" y="132047"/>
                  <a:pt x="104193" y="149525"/>
                  <a:pt x="104193" y="168131"/>
                </a:cubicBezTo>
                <a:cubicBezTo>
                  <a:pt x="104193" y="187864"/>
                  <a:pt x="110958" y="204215"/>
                  <a:pt x="125054" y="218309"/>
                </a:cubicBezTo>
                <a:cubicBezTo>
                  <a:pt x="135202" y="228458"/>
                  <a:pt x="148170" y="235789"/>
                  <a:pt x="162266" y="238043"/>
                </a:cubicBezTo>
                <a:lnTo>
                  <a:pt x="162266" y="276947"/>
                </a:lnTo>
                <a:cubicBezTo>
                  <a:pt x="155500" y="279201"/>
                  <a:pt x="148170" y="283148"/>
                  <a:pt x="142532" y="288786"/>
                </a:cubicBezTo>
                <a:cubicBezTo>
                  <a:pt x="132947" y="298935"/>
                  <a:pt x="127309" y="311902"/>
                  <a:pt x="127309" y="325998"/>
                </a:cubicBezTo>
                <a:cubicBezTo>
                  <a:pt x="127309" y="341221"/>
                  <a:pt x="132947" y="352497"/>
                  <a:pt x="142532" y="363211"/>
                </a:cubicBezTo>
                <a:cubicBezTo>
                  <a:pt x="152681" y="373922"/>
                  <a:pt x="165649" y="378432"/>
                  <a:pt x="179744" y="378432"/>
                </a:cubicBezTo>
                <a:cubicBezTo>
                  <a:pt x="194967" y="378432"/>
                  <a:pt x="206243" y="373922"/>
                  <a:pt x="216956" y="363211"/>
                </a:cubicBezTo>
                <a:cubicBezTo>
                  <a:pt x="227668" y="353060"/>
                  <a:pt x="232179" y="341221"/>
                  <a:pt x="232179" y="325998"/>
                </a:cubicBezTo>
                <a:cubicBezTo>
                  <a:pt x="232179" y="322615"/>
                  <a:pt x="232179" y="317541"/>
                  <a:pt x="231051" y="314158"/>
                </a:cubicBezTo>
                <a:lnTo>
                  <a:pt x="316752" y="262851"/>
                </a:lnTo>
                <a:cubicBezTo>
                  <a:pt x="324080" y="270181"/>
                  <a:pt x="333102" y="273564"/>
                  <a:pt x="343814" y="273564"/>
                </a:cubicBezTo>
                <a:cubicBezTo>
                  <a:pt x="355654" y="273564"/>
                  <a:pt x="365239" y="270181"/>
                  <a:pt x="373132" y="261724"/>
                </a:cubicBezTo>
                <a:moveTo>
                  <a:pt x="304347" y="227894"/>
                </a:moveTo>
                <a:cubicBezTo>
                  <a:pt x="303218" y="230150"/>
                  <a:pt x="303218" y="231277"/>
                  <a:pt x="302656" y="231841"/>
                </a:cubicBezTo>
                <a:cubicBezTo>
                  <a:pt x="302656" y="236916"/>
                  <a:pt x="303783" y="240299"/>
                  <a:pt x="304910" y="243682"/>
                </a:cubicBezTo>
                <a:lnTo>
                  <a:pt x="219210" y="291606"/>
                </a:lnTo>
                <a:cubicBezTo>
                  <a:pt x="218083" y="290477"/>
                  <a:pt x="216956" y="289350"/>
                  <a:pt x="216956" y="288223"/>
                </a:cubicBezTo>
                <a:cubicBezTo>
                  <a:pt x="207370" y="279765"/>
                  <a:pt x="198350" y="275255"/>
                  <a:pt x="185382" y="274127"/>
                </a:cubicBezTo>
                <a:lnTo>
                  <a:pt x="185382" y="238043"/>
                </a:lnTo>
                <a:cubicBezTo>
                  <a:pt x="200604" y="235789"/>
                  <a:pt x="212444" y="229023"/>
                  <a:pt x="224285" y="218309"/>
                </a:cubicBezTo>
                <a:cubicBezTo>
                  <a:pt x="229359" y="212672"/>
                  <a:pt x="233869" y="207598"/>
                  <a:pt x="236125" y="201959"/>
                </a:cubicBezTo>
                <a:lnTo>
                  <a:pt x="304347" y="227894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50000">
                <a:schemeClr val="accent2">
                  <a:alpha val="100000"/>
                </a:schemeClr>
              </a:gs>
            </a:gsLst>
            <a:lin ang="5400000" scaled="1"/>
          </a:gradFill>
          <a:ln w="15991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27"/>
          <p:cNvSpPr/>
          <p:nvPr>
            <p:custDataLst>
              <p:tags r:id="rId23"/>
            </p:custDataLst>
          </p:nvPr>
        </p:nvSpPr>
        <p:spPr>
          <a:xfrm>
            <a:off x="1363690" y="3059881"/>
            <a:ext cx="338624" cy="290198"/>
          </a:xfrm>
          <a:custGeom>
            <a:avLst/>
            <a:gdLst>
              <a:gd name="connsiteX0" fmla="*/ 323606 w 451491"/>
              <a:gd name="connsiteY0" fmla="*/ 140325 h 386925"/>
              <a:gd name="connsiteX1" fmla="*/ 314238 w 451491"/>
              <a:gd name="connsiteY1" fmla="*/ 144949 h 386925"/>
              <a:gd name="connsiteX2" fmla="*/ 316044 w 451491"/>
              <a:gd name="connsiteY2" fmla="*/ 161783 h 386925"/>
              <a:gd name="connsiteX3" fmla="*/ 361193 w 451491"/>
              <a:gd name="connsiteY3" fmla="*/ 197222 h 386925"/>
              <a:gd name="connsiteX4" fmla="*/ 316044 w 451491"/>
              <a:gd name="connsiteY4" fmla="*/ 235984 h 386925"/>
              <a:gd name="connsiteX5" fmla="*/ 316044 w 451491"/>
              <a:gd name="connsiteY5" fmla="*/ 252818 h 386925"/>
              <a:gd name="connsiteX6" fmla="*/ 334781 w 451491"/>
              <a:gd name="connsiteY6" fmla="*/ 252818 h 386925"/>
              <a:gd name="connsiteX7" fmla="*/ 391217 w 451491"/>
              <a:gd name="connsiteY7" fmla="*/ 203867 h 386925"/>
              <a:gd name="connsiteX8" fmla="*/ 395055 w 451491"/>
              <a:gd name="connsiteY8" fmla="*/ 193678 h 386925"/>
              <a:gd name="connsiteX9" fmla="*/ 389411 w 451491"/>
              <a:gd name="connsiteY9" fmla="*/ 185262 h 386925"/>
              <a:gd name="connsiteX10" fmla="*/ 332975 w 451491"/>
              <a:gd name="connsiteY10" fmla="*/ 143177 h 386925"/>
              <a:gd name="connsiteX11" fmla="*/ 323606 w 451491"/>
              <a:gd name="connsiteY11" fmla="*/ 140325 h 386925"/>
              <a:gd name="connsiteX12" fmla="*/ 248885 w 451491"/>
              <a:gd name="connsiteY12" fmla="*/ 138664 h 386925"/>
              <a:gd name="connsiteX13" fmla="*/ 240871 w 451491"/>
              <a:gd name="connsiteY13" fmla="*/ 144949 h 386925"/>
              <a:gd name="connsiteX14" fmla="*/ 184434 w 451491"/>
              <a:gd name="connsiteY14" fmla="*/ 235984 h 386925"/>
              <a:gd name="connsiteX15" fmla="*/ 190078 w 451491"/>
              <a:gd name="connsiteY15" fmla="*/ 252597 h 386925"/>
              <a:gd name="connsiteX16" fmla="*/ 197527 w 451491"/>
              <a:gd name="connsiteY16" fmla="*/ 254369 h 386925"/>
              <a:gd name="connsiteX17" fmla="*/ 208815 w 451491"/>
              <a:gd name="connsiteY17" fmla="*/ 247724 h 386925"/>
              <a:gd name="connsiteX18" fmla="*/ 265251 w 451491"/>
              <a:gd name="connsiteY18" fmla="*/ 156688 h 386925"/>
              <a:gd name="connsiteX19" fmla="*/ 259607 w 451491"/>
              <a:gd name="connsiteY19" fmla="*/ 139854 h 386925"/>
              <a:gd name="connsiteX20" fmla="*/ 248885 w 451491"/>
              <a:gd name="connsiteY20" fmla="*/ 138664 h 386925"/>
              <a:gd name="connsiteX21" fmla="*/ 128224 w 451491"/>
              <a:gd name="connsiteY21" fmla="*/ 138581 h 386925"/>
              <a:gd name="connsiteX22" fmla="*/ 118516 w 451491"/>
              <a:gd name="connsiteY22" fmla="*/ 141626 h 386925"/>
              <a:gd name="connsiteX23" fmla="*/ 62080 w 451491"/>
              <a:gd name="connsiteY23" fmla="*/ 183711 h 386925"/>
              <a:gd name="connsiteX24" fmla="*/ 56436 w 451491"/>
              <a:gd name="connsiteY24" fmla="*/ 190135 h 386925"/>
              <a:gd name="connsiteX25" fmla="*/ 60274 w 451491"/>
              <a:gd name="connsiteY25" fmla="*/ 200323 h 386925"/>
              <a:gd name="connsiteX26" fmla="*/ 116710 w 451491"/>
              <a:gd name="connsiteY26" fmla="*/ 249274 h 386925"/>
              <a:gd name="connsiteX27" fmla="*/ 135447 w 451491"/>
              <a:gd name="connsiteY27" fmla="*/ 249274 h 386925"/>
              <a:gd name="connsiteX28" fmla="*/ 137479 w 451491"/>
              <a:gd name="connsiteY28" fmla="*/ 247281 h 386925"/>
              <a:gd name="connsiteX29" fmla="*/ 135447 w 451491"/>
              <a:gd name="connsiteY29" fmla="*/ 232441 h 386925"/>
              <a:gd name="connsiteX30" fmla="*/ 90298 w 451491"/>
              <a:gd name="connsiteY30" fmla="*/ 193678 h 386925"/>
              <a:gd name="connsiteX31" fmla="*/ 135447 w 451491"/>
              <a:gd name="connsiteY31" fmla="*/ 160011 h 386925"/>
              <a:gd name="connsiteX32" fmla="*/ 137705 w 451491"/>
              <a:gd name="connsiteY32" fmla="*/ 158239 h 386925"/>
              <a:gd name="connsiteX33" fmla="*/ 137253 w 451491"/>
              <a:gd name="connsiteY33" fmla="*/ 143177 h 386925"/>
              <a:gd name="connsiteX34" fmla="*/ 128224 w 451491"/>
              <a:gd name="connsiteY34" fmla="*/ 138581 h 386925"/>
              <a:gd name="connsiteX35" fmla="*/ 0 w 451491"/>
              <a:gd name="connsiteY35" fmla="*/ 85809 h 386925"/>
              <a:gd name="connsiteX36" fmla="*/ 451491 w 451491"/>
              <a:gd name="connsiteY36" fmla="*/ 85809 h 386925"/>
              <a:gd name="connsiteX37" fmla="*/ 451491 w 451491"/>
              <a:gd name="connsiteY37" fmla="*/ 271424 h 386925"/>
              <a:gd name="connsiteX38" fmla="*/ 395055 w 451491"/>
              <a:gd name="connsiteY38" fmla="*/ 322148 h 386925"/>
              <a:gd name="connsiteX39" fmla="*/ 257995 w 451491"/>
              <a:gd name="connsiteY39" fmla="*/ 322148 h 386925"/>
              <a:gd name="connsiteX40" fmla="*/ 257995 w 451491"/>
              <a:gd name="connsiteY40" fmla="*/ 354676 h 386925"/>
              <a:gd name="connsiteX41" fmla="*/ 403762 w 451491"/>
              <a:gd name="connsiteY41" fmla="*/ 354676 h 386925"/>
              <a:gd name="connsiteX42" fmla="*/ 419241 w 451491"/>
              <a:gd name="connsiteY42" fmla="*/ 370800 h 386925"/>
              <a:gd name="connsiteX43" fmla="*/ 403762 w 451491"/>
              <a:gd name="connsiteY43" fmla="*/ 386925 h 386925"/>
              <a:gd name="connsiteX44" fmla="*/ 47729 w 451491"/>
              <a:gd name="connsiteY44" fmla="*/ 386925 h 386925"/>
              <a:gd name="connsiteX45" fmla="*/ 32249 w 451491"/>
              <a:gd name="connsiteY45" fmla="*/ 370800 h 386925"/>
              <a:gd name="connsiteX46" fmla="*/ 47729 w 451491"/>
              <a:gd name="connsiteY46" fmla="*/ 354676 h 386925"/>
              <a:gd name="connsiteX47" fmla="*/ 193496 w 451491"/>
              <a:gd name="connsiteY47" fmla="*/ 354676 h 386925"/>
              <a:gd name="connsiteX48" fmla="*/ 193496 w 451491"/>
              <a:gd name="connsiteY48" fmla="*/ 322148 h 386925"/>
              <a:gd name="connsiteX49" fmla="*/ 56436 w 451491"/>
              <a:gd name="connsiteY49" fmla="*/ 322148 h 386925"/>
              <a:gd name="connsiteX50" fmla="*/ 0 w 451491"/>
              <a:gd name="connsiteY50" fmla="*/ 271424 h 386925"/>
              <a:gd name="connsiteX51" fmla="*/ 56436 w 451491"/>
              <a:gd name="connsiteY51" fmla="*/ 0 h 386925"/>
              <a:gd name="connsiteX52" fmla="*/ 395055 w 451491"/>
              <a:gd name="connsiteY52" fmla="*/ 0 h 386925"/>
              <a:gd name="connsiteX53" fmla="*/ 451491 w 451491"/>
              <a:gd name="connsiteY53" fmla="*/ 50723 h 386925"/>
              <a:gd name="connsiteX54" fmla="*/ 451491 w 451491"/>
              <a:gd name="connsiteY54" fmla="*/ 69196 h 386925"/>
              <a:gd name="connsiteX55" fmla="*/ 0 w 451491"/>
              <a:gd name="connsiteY55" fmla="*/ 69196 h 386925"/>
              <a:gd name="connsiteX56" fmla="*/ 0 w 451491"/>
              <a:gd name="connsiteY56" fmla="*/ 50723 h 386925"/>
              <a:gd name="connsiteX57" fmla="*/ 56436 w 451491"/>
              <a:gd name="connsiteY57" fmla="*/ 0 h 38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51491" h="386925">
                <a:moveTo>
                  <a:pt x="323606" y="140325"/>
                </a:moveTo>
                <a:cubicBezTo>
                  <a:pt x="320333" y="140740"/>
                  <a:pt x="317060" y="142402"/>
                  <a:pt x="314238" y="144949"/>
                </a:cubicBezTo>
                <a:cubicBezTo>
                  <a:pt x="308594" y="150043"/>
                  <a:pt x="310400" y="156688"/>
                  <a:pt x="316044" y="161783"/>
                </a:cubicBezTo>
                <a:lnTo>
                  <a:pt x="361193" y="197222"/>
                </a:lnTo>
                <a:lnTo>
                  <a:pt x="316044" y="235984"/>
                </a:lnTo>
                <a:cubicBezTo>
                  <a:pt x="310400" y="239307"/>
                  <a:pt x="310400" y="247724"/>
                  <a:pt x="316044" y="252818"/>
                </a:cubicBezTo>
                <a:cubicBezTo>
                  <a:pt x="321462" y="257248"/>
                  <a:pt x="329363" y="257248"/>
                  <a:pt x="334781" y="252818"/>
                </a:cubicBezTo>
                <a:lnTo>
                  <a:pt x="391217" y="203867"/>
                </a:lnTo>
                <a:cubicBezTo>
                  <a:pt x="393249" y="200766"/>
                  <a:pt x="394603" y="197222"/>
                  <a:pt x="395055" y="193678"/>
                </a:cubicBezTo>
                <a:cubicBezTo>
                  <a:pt x="395055" y="190135"/>
                  <a:pt x="392797" y="186812"/>
                  <a:pt x="389411" y="185262"/>
                </a:cubicBezTo>
                <a:lnTo>
                  <a:pt x="332975" y="143177"/>
                </a:lnTo>
                <a:cubicBezTo>
                  <a:pt x="330153" y="140741"/>
                  <a:pt x="326880" y="139910"/>
                  <a:pt x="323606" y="140325"/>
                </a:cubicBezTo>
                <a:close/>
                <a:moveTo>
                  <a:pt x="248885" y="138664"/>
                </a:moveTo>
                <a:cubicBezTo>
                  <a:pt x="245611" y="139522"/>
                  <a:pt x="242790" y="141627"/>
                  <a:pt x="240871" y="144949"/>
                </a:cubicBezTo>
                <a:lnTo>
                  <a:pt x="184434" y="235984"/>
                </a:lnTo>
                <a:cubicBezTo>
                  <a:pt x="180596" y="242851"/>
                  <a:pt x="184434" y="249496"/>
                  <a:pt x="190078" y="252597"/>
                </a:cubicBezTo>
                <a:cubicBezTo>
                  <a:pt x="191884" y="254369"/>
                  <a:pt x="195721" y="254369"/>
                  <a:pt x="197527" y="254369"/>
                </a:cubicBezTo>
                <a:cubicBezTo>
                  <a:pt x="202042" y="253926"/>
                  <a:pt x="206331" y="251489"/>
                  <a:pt x="208815" y="247724"/>
                </a:cubicBezTo>
                <a:lnTo>
                  <a:pt x="265251" y="156688"/>
                </a:lnTo>
                <a:cubicBezTo>
                  <a:pt x="269089" y="150043"/>
                  <a:pt x="267057" y="143177"/>
                  <a:pt x="259607" y="139854"/>
                </a:cubicBezTo>
                <a:cubicBezTo>
                  <a:pt x="255883" y="138193"/>
                  <a:pt x="252158" y="137806"/>
                  <a:pt x="248885" y="138664"/>
                </a:cubicBezTo>
                <a:close/>
                <a:moveTo>
                  <a:pt x="128224" y="138581"/>
                </a:moveTo>
                <a:cubicBezTo>
                  <a:pt x="124837" y="138304"/>
                  <a:pt x="121338" y="139301"/>
                  <a:pt x="118516" y="141626"/>
                </a:cubicBezTo>
                <a:lnTo>
                  <a:pt x="62080" y="183711"/>
                </a:lnTo>
                <a:cubicBezTo>
                  <a:pt x="58242" y="187034"/>
                  <a:pt x="56436" y="188805"/>
                  <a:pt x="56436" y="190135"/>
                </a:cubicBezTo>
                <a:cubicBezTo>
                  <a:pt x="56211" y="193900"/>
                  <a:pt x="57565" y="197665"/>
                  <a:pt x="60274" y="200323"/>
                </a:cubicBezTo>
                <a:lnTo>
                  <a:pt x="116710" y="249274"/>
                </a:lnTo>
                <a:cubicBezTo>
                  <a:pt x="122128" y="253705"/>
                  <a:pt x="130029" y="253705"/>
                  <a:pt x="135447" y="249274"/>
                </a:cubicBezTo>
                <a:cubicBezTo>
                  <a:pt x="136350" y="248610"/>
                  <a:pt x="136802" y="247945"/>
                  <a:pt x="137479" y="247281"/>
                </a:cubicBezTo>
                <a:cubicBezTo>
                  <a:pt x="141091" y="242629"/>
                  <a:pt x="140188" y="235984"/>
                  <a:pt x="135447" y="232441"/>
                </a:cubicBezTo>
                <a:lnTo>
                  <a:pt x="90298" y="193678"/>
                </a:lnTo>
                <a:lnTo>
                  <a:pt x="135447" y="160011"/>
                </a:lnTo>
                <a:cubicBezTo>
                  <a:pt x="136350" y="159568"/>
                  <a:pt x="137028" y="158903"/>
                  <a:pt x="137705" y="158239"/>
                </a:cubicBezTo>
                <a:cubicBezTo>
                  <a:pt x="141768" y="154030"/>
                  <a:pt x="141542" y="147164"/>
                  <a:pt x="137253" y="143177"/>
                </a:cubicBezTo>
                <a:cubicBezTo>
                  <a:pt x="134883" y="140408"/>
                  <a:pt x="131610" y="138858"/>
                  <a:pt x="128224" y="138581"/>
                </a:cubicBezTo>
                <a:close/>
                <a:moveTo>
                  <a:pt x="0" y="85809"/>
                </a:moveTo>
                <a:lnTo>
                  <a:pt x="451491" y="85809"/>
                </a:lnTo>
                <a:lnTo>
                  <a:pt x="451491" y="271424"/>
                </a:lnTo>
                <a:cubicBezTo>
                  <a:pt x="451491" y="300218"/>
                  <a:pt x="427111" y="322148"/>
                  <a:pt x="395055" y="322148"/>
                </a:cubicBezTo>
                <a:lnTo>
                  <a:pt x="257995" y="322148"/>
                </a:lnTo>
                <a:lnTo>
                  <a:pt x="257995" y="354676"/>
                </a:lnTo>
                <a:lnTo>
                  <a:pt x="403762" y="354676"/>
                </a:lnTo>
                <a:cubicBezTo>
                  <a:pt x="412311" y="354676"/>
                  <a:pt x="419241" y="361895"/>
                  <a:pt x="419241" y="370800"/>
                </a:cubicBezTo>
                <a:cubicBezTo>
                  <a:pt x="419241" y="379706"/>
                  <a:pt x="412311" y="386925"/>
                  <a:pt x="403762" y="386925"/>
                </a:cubicBezTo>
                <a:lnTo>
                  <a:pt x="47729" y="386925"/>
                </a:lnTo>
                <a:cubicBezTo>
                  <a:pt x="39180" y="386925"/>
                  <a:pt x="32249" y="379706"/>
                  <a:pt x="32249" y="370800"/>
                </a:cubicBezTo>
                <a:cubicBezTo>
                  <a:pt x="32249" y="361895"/>
                  <a:pt x="39180" y="354676"/>
                  <a:pt x="47729" y="354676"/>
                </a:cubicBezTo>
                <a:lnTo>
                  <a:pt x="193496" y="354676"/>
                </a:lnTo>
                <a:lnTo>
                  <a:pt x="193496" y="322148"/>
                </a:lnTo>
                <a:lnTo>
                  <a:pt x="56436" y="322148"/>
                </a:lnTo>
                <a:cubicBezTo>
                  <a:pt x="24381" y="322148"/>
                  <a:pt x="0" y="300218"/>
                  <a:pt x="0" y="271424"/>
                </a:cubicBezTo>
                <a:close/>
                <a:moveTo>
                  <a:pt x="56436" y="0"/>
                </a:moveTo>
                <a:lnTo>
                  <a:pt x="395055" y="0"/>
                </a:lnTo>
                <a:cubicBezTo>
                  <a:pt x="427111" y="0"/>
                  <a:pt x="451491" y="21928"/>
                  <a:pt x="451491" y="50723"/>
                </a:cubicBezTo>
                <a:lnTo>
                  <a:pt x="451491" y="69196"/>
                </a:lnTo>
                <a:lnTo>
                  <a:pt x="0" y="69196"/>
                </a:lnTo>
                <a:lnTo>
                  <a:pt x="0" y="50723"/>
                </a:lnTo>
                <a:cubicBezTo>
                  <a:pt x="0" y="21928"/>
                  <a:pt x="24381" y="0"/>
                  <a:pt x="5643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50000">
                <a:schemeClr val="accent1">
                  <a:alpha val="100000"/>
                </a:schemeClr>
              </a:gs>
            </a:gsLst>
            <a:lin ang="5400000" scaled="1"/>
          </a:gradFill>
          <a:ln w="15991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43" name="直接连接符 2"/>
          <p:cNvCxnSpPr/>
          <p:nvPr>
            <p:custDataLst>
              <p:tags r:id="rId24"/>
            </p:custDataLst>
          </p:nvPr>
        </p:nvCxnSpPr>
        <p:spPr>
          <a:xfrm flipH="1">
            <a:off x="1532761" y="4140986"/>
            <a:ext cx="5715" cy="418507"/>
          </a:xfrm>
          <a:prstGeom prst="line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3"/>
          <p:cNvCxnSpPr/>
          <p:nvPr>
            <p:custDataLst>
              <p:tags r:id="rId25"/>
            </p:custDataLst>
          </p:nvPr>
        </p:nvCxnSpPr>
        <p:spPr>
          <a:xfrm flipH="1">
            <a:off x="3051071" y="2822705"/>
            <a:ext cx="5715" cy="364506"/>
          </a:xfrm>
          <a:prstGeom prst="line">
            <a:avLst/>
          </a:prstGeom>
          <a:ln w="31750" cap="rnd">
            <a:solidFill>
              <a:schemeClr val="accent2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8"/>
          <p:cNvCxnSpPr/>
          <p:nvPr>
            <p:custDataLst>
              <p:tags r:id="rId26"/>
            </p:custDataLst>
          </p:nvPr>
        </p:nvCxnSpPr>
        <p:spPr>
          <a:xfrm flipH="1">
            <a:off x="4582240" y="4175276"/>
            <a:ext cx="5715" cy="418507"/>
          </a:xfrm>
          <a:prstGeom prst="line">
            <a:avLst/>
          </a:prstGeom>
          <a:ln w="31750" cap="rnd">
            <a:solidFill>
              <a:schemeClr val="accent3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9"/>
          <p:cNvCxnSpPr/>
          <p:nvPr>
            <p:custDataLst>
              <p:tags r:id="rId27"/>
            </p:custDataLst>
          </p:nvPr>
        </p:nvCxnSpPr>
        <p:spPr>
          <a:xfrm flipH="1">
            <a:off x="6093405" y="2829372"/>
            <a:ext cx="5715" cy="364506"/>
          </a:xfrm>
          <a:prstGeom prst="line">
            <a:avLst/>
          </a:prstGeom>
          <a:ln w="31750" cap="rnd">
            <a:solidFill>
              <a:schemeClr val="accent4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10"/>
          <p:cNvCxnSpPr/>
          <p:nvPr>
            <p:custDataLst>
              <p:tags r:id="rId28"/>
            </p:custDataLst>
          </p:nvPr>
        </p:nvCxnSpPr>
        <p:spPr>
          <a:xfrm flipH="1">
            <a:off x="7614573" y="4167656"/>
            <a:ext cx="5715" cy="418507"/>
          </a:xfrm>
          <a:prstGeom prst="line">
            <a:avLst/>
          </a:prstGeom>
          <a:ln w="31750" cap="rnd">
            <a:solidFill>
              <a:schemeClr val="accent5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一键全链路工作流</a:t>
            </a: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325880"/>
            <a:ext cx="8107680" cy="38754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本地模式 vs API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本地模式（零成本）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零 API 费用，无需联网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秒级完成，极速响应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清洗重组，去水印、结构化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自动排序、生成目录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适合：快速去杂质、无网络环境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188720"/>
            <a:ext cx="18288" cy="47548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API 模式（高质量）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按 Token 计费，需联网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1~10 分钟，流式展示进度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AI 润色，语言精炼专业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考情分析 + 口诀 + 真题演练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适合：最终版资料、思维导图</a:t>
            </a: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3569970"/>
            <a:ext cx="6788150" cy="3103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双前端策略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7E6"/>
                </a:solidFill>
                <a:latin typeface="微软雅黑" panose="020B0503020204020204" charset="-122"/>
              </a:defRPr>
            </a:pPr>
            <a:r>
              <a:t>如何满足不同用户群体？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Streamlit 版 —— 快速原型与个人工具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宽屏布局 + 自定义 CSS（300+ 行样式注入），实现卡片容器、暗黑模式、按钮动效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卡片式章节选择器：3 列网格，点击切换选中状态，直观高效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提示词工作台：编辑 / 预览 / 重置 / AI 辅助修改 / 基于知识库生成模板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知识库浏览器：左侧文件列表 + 右侧编辑/渲染预览双栏，实时查看效果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流式输出打字机效果 + Pipeline 进度仪表盘，让等待过程可视化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启动命令：streamlit run app.py  |  地址：http://localhost:8501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Flask/HTML 版 —— 生产级 Web 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完整单页应用（464 行 HTML + 958 行 CSS + 1148 行 JS），6 大功能标签页全覆盖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设计系统：CSS 变量主题、玻璃态导航栏、卡片阴影、渐变点缀、完整暗黑模式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响应式侧边栏：桌面端固定左侧，移动端滑出遮罩层，适配多种设备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SSE 流式输出：Server-Sent Events 实时推送 AI 生成内容到日志区域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Toast 通知系统 + 实时状态指示器（就绪/运行中/完成三色标识）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启动命令：python backend/app.py  |  地址：http://localhost:5001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关键设计决策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7E6"/>
                </a:solidFill>
                <a:latin typeface="微软雅黑" panose="020B0503020204020204" charset="-122"/>
              </a:defRPr>
            </a:pPr>
            <a:r>
              <a:t>5 个影响深远的架构选择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关键设计决策（1/2）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双前端策略：Streamlit 快速迭代 + Flask/HTML 精致体验，满足不同场景，共用同一套 modules/ 业务逻辑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延迟导入依赖：rapidocr、PyMuPDF、OpenCV 等重型库均在函数内部导入，避免启动崩溃，降低环境配置门槛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模板兜底机制：Jinja2 模板缺失时自动降级为内置默认提示词，确保系统在任何情况下都能运行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关键设计决策（2/2）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33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流式与非流式统一封装：call_llm() 单函数通过 stream_callback 解耦两种模式，前端无论是否实时展示都调用同一接口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LLM 驱动图表决策：excel_charter.py 不仅用规则判断图表类型，还能调用 LLM 分析数据语义，选择更合适的 chart type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29485" y="2743200"/>
            <a:ext cx="468503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成果与输出样例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7E6"/>
                </a:solidFill>
                <a:latin typeface="微软雅黑" panose="020B0503020204020204" charset="-122"/>
              </a:defRPr>
            </a:pPr>
            <a:r>
              <a:t>系统能产出什么？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五种输出格式全覆盖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9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结构化 Markdown 学习资料：6 大固定模块（考情分析 / 知识体系 / 考点精讲 / 新教材变化 / 记忆口诀 / 真题演练）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精美排版 Word 文档：蓝灰学术色系、微软雅黑字体、表格带表头背景与斑马纹、页面边距规范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思维导图（4 种格式）：Markmap（VS Code 交互式）、Mermaid（GitHub 原生渲染）、PNG 图片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自动统计图表：matplotlib 生成柱状图 / 饼图 / 雷达图 / 散点图 / 折线图，自动嵌入 Word 附录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冲刺速记版：从完整版自动提炼核心考点，生成便携速记卡片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 演进路线与展望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7E6"/>
                </a:solidFill>
                <a:latin typeface="微软雅黑" panose="020B0503020204020204" charset="-122"/>
              </a:defRPr>
            </a:pPr>
            <a:r>
              <a:t>从工具到平台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四阶段演进规划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主题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关键特性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P0 体验优化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已落地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可插拔模块系统、提示词工作台、知识库浏览器、UI 美化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P1 质量保障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进行中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QualityGate 质量门禁、自动重试机制、检查点恢复（断点续跑）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P2 平台化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规划中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@tool 注册机制、Pipeline YAML 声明式编排、模板市场分享下载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P3 企业级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规划中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多项目工作区、生成质量评估报告、多用户权限管理（讲师/学员/管理员）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不是一个简单的 'PDF→AI→Markdown' 演示玩具，而是在每个环节都做了扎实工程化设计的生产力工具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输入层支持 PDF（OCR）、Word（含 .doc 兼容）、Excel 三种格式，覆盖培训资料全场景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处理层提供本地清洗与 AI 深度加工双模式，灵活应对有网/无网、有预算/零预算场景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输出层覆盖 Markdown / Word / 思维导图（4种格式）/ 统计图表 ，一站式满足学习需求</a:t>
            </a:r>
          </a:p>
          <a:p>
            <a:pPr>
              <a:lnSpc>
                <a:spcPct val="140000"/>
              </a:lnSpc>
              <a:spcBef>
                <a:spcPts val="1200"/>
              </a:spcBef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具备良好的长期维护价值和商业转化潜力，演进路线清晰：从个人工具 → 可配置平台 → 企业级 SaaS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C8DC"/>
                </a:solidFill>
                <a:latin typeface="微软雅黑" panose="020B0503020204020204" charset="-122"/>
              </a:defRPr>
            </a:pPr>
            <a:r>
              <a:t>欢迎交流讨论与二次开发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407_1*a*1"/>
  <p:tag name="KSO_WM_TEMPLATE_CATEGORY" val="diagram"/>
  <p:tag name="KSO_WM_TEMPLATE_INDEX" val="2023840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407_1*l_h_i*1_2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407_1*l_h_i*1_1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8407_1*l_h_i*1_5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9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407_1*l_h_i*1_3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407_1*l_h_i*1_1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407_1*l_h_i*1_5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9"/>
  <p:tag name="KSO_WM_UNIT_TEXT_FILL_FORE_SCHEMECOLOR_INDEX" val="2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407_1*l_h_i*1_4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407_1*l_h_i*1_3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407_1*l_h_i*1_2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407_1*l_h_i*1_2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407_1*l_h_i*1_4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407_1*l_h_i*1_4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07_1*l_h_f*1_1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8407_1*l_h_f*1_5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407_1*l_h_f*1_3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407_1*l_h_f*1_4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07_1*l_h_f*1_2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0*1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5_1"/>
  <p:tag name="KSO_WM_UNIT_ID" val="diagram20238407_1*l_h_x*1_5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5*10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407_1*l_h_x*1_4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5*1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407_1*l_h_x*1_3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5*1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407_1*l_h_x*1_2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07*1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407_1*l_h_x*1_1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407_1*l_h_i*1_1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5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8407_1*l_h_i*1_2_4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6"/>
  <p:tag name="KSO_WM_UNIT_LINE_FILL_TYPE" val="2"/>
  <p:tag name="KSO_WM_UNIT_USESOURCEFORMAT_APPLY" val="1"/>
</p:tagLst>
</file>

<file path=ppt/tags/tag26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407_1*l_h_i*1_3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7"/>
  <p:tag name="KSO_WM_UNIT_LINE_FILL_TYPE" val="2"/>
  <p:tag name="KSO_WM_UNIT_USESOURCEFORMAT_APPLY" val="1"/>
</p:tagLst>
</file>

<file path=ppt/tags/tag27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8407_1*l_h_i*1_4_4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8"/>
  <p:tag name="KSO_WM_UNIT_LINE_FILL_TYPE" val="2"/>
  <p:tag name="KSO_WM_UNIT_USESOURCEFORMAT_APPLY" val="1"/>
</p:tagLst>
</file>

<file path=ppt/tags/tag28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284.9766116322817,&quot;left&quot;:41.67608267716537,&quot;top&quot;:146.87923355393787,&quot;width&quot;:636.6478346456693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diagram20238407_1*l_h_i*1_5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9"/>
  <p:tag name="KSO_WM_UNIT_LINE_FILL_TYPE" val="2"/>
  <p:tag name="KSO_WM_UNIT_USESOURCEFORMAT_APPLY" val="1"/>
</p:tagLst>
</file>

<file path=ppt/tags/tag29.xml><?xml version="1.0" encoding="utf-8"?>
<p:tagLst xmlns:p="http://schemas.openxmlformats.org/presentationml/2006/main">
  <p:tag name="KSO_WM_SPECIAL_SOURCE" val="bdnull"/>
  <p:tag name="KSO_WM_SLIDE_ID" val="diagram20238407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5"/>
  <p:tag name="KSO_WM_SLIDE_INDEX" val="1"/>
  <p:tag name="KSO_WM_SLIDE_SIZE" val="848.864*379.969"/>
  <p:tag name="KSO_WM_SLIDE_POSITION" val="55.5681*105.83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407"/>
  <p:tag name="KSO_WM_SLIDE_LAYOUT" val="a_l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3708</Words>
  <Application>WPS 演示</Application>
  <PresentationFormat>On-screen Show (4:3)</PresentationFormat>
  <Paragraphs>245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PMingLiU</vt:lpstr>
      <vt:lpstr>Wingdings</vt:lpstr>
      <vt:lpstr>Arial</vt:lpstr>
      <vt:lpstr>微软雅黑</vt:lpstr>
      <vt:lpstr>Calibri</vt:lpstr>
      <vt:lpstr>宋体</vt:lpstr>
      <vt:lpstr>Arial Unicode MS</vt:lpstr>
      <vt:lpstr>PMingLiU</vt:lpstr>
      <vt:lpstr>AMGDT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一键全链路工作流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尹烬炎</cp:lastModifiedBy>
  <cp:revision>2</cp:revision>
  <dcterms:created xsi:type="dcterms:W3CDTF">2013-01-27T09:14:00Z</dcterms:created>
  <dcterms:modified xsi:type="dcterms:W3CDTF">2026-05-14T09:30:31Z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154C4AEBD3D0428D8D49E78ADE539197_12</vt:lpwstr>
  </property>
  <property fmtid="{D5CDD505-2E9C-101B-9397-08002B2CF9AE}" pid="3" name="KSOProductBuildVer">
    <vt:lpwstr>3076-12.1.0.26372</vt:lpwstr>
  </property>
</Properties>
</file>